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45"/>
  </p:notesMasterIdLst>
  <p:handoutMasterIdLst>
    <p:handoutMasterId r:id="rId46"/>
  </p:handoutMasterIdLst>
  <p:sldIdLst>
    <p:sldId id="351" r:id="rId2"/>
    <p:sldId id="352" r:id="rId3"/>
    <p:sldId id="601" r:id="rId4"/>
    <p:sldId id="370" r:id="rId5"/>
    <p:sldId id="310" r:id="rId6"/>
    <p:sldId id="311" r:id="rId7"/>
    <p:sldId id="371" r:id="rId8"/>
    <p:sldId id="373" r:id="rId9"/>
    <p:sldId id="374" r:id="rId10"/>
    <p:sldId id="375" r:id="rId11"/>
    <p:sldId id="376" r:id="rId12"/>
    <p:sldId id="377" r:id="rId13"/>
    <p:sldId id="372" r:id="rId14"/>
    <p:sldId id="381" r:id="rId15"/>
    <p:sldId id="382" r:id="rId16"/>
    <p:sldId id="385" r:id="rId17"/>
    <p:sldId id="380" r:id="rId18"/>
    <p:sldId id="602" r:id="rId19"/>
    <p:sldId id="603" r:id="rId20"/>
    <p:sldId id="384" r:id="rId21"/>
    <p:sldId id="606" r:id="rId22"/>
    <p:sldId id="607" r:id="rId23"/>
    <p:sldId id="605" r:id="rId24"/>
    <p:sldId id="608" r:id="rId25"/>
    <p:sldId id="604" r:id="rId26"/>
    <p:sldId id="383" r:id="rId27"/>
    <p:sldId id="386" r:id="rId28"/>
    <p:sldId id="379" r:id="rId29"/>
    <p:sldId id="609" r:id="rId30"/>
    <p:sldId id="302" r:id="rId31"/>
    <p:sldId id="390" r:id="rId32"/>
    <p:sldId id="326" r:id="rId33"/>
    <p:sldId id="391" r:id="rId34"/>
    <p:sldId id="350" r:id="rId35"/>
    <p:sldId id="330" r:id="rId36"/>
    <p:sldId id="392" r:id="rId37"/>
    <p:sldId id="353" r:id="rId38"/>
    <p:sldId id="610" r:id="rId39"/>
    <p:sldId id="393" r:id="rId40"/>
    <p:sldId id="611" r:id="rId41"/>
    <p:sldId id="354" r:id="rId42"/>
    <p:sldId id="338" r:id="rId43"/>
    <p:sldId id="612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9" autoAdjust="0"/>
    <p:restoredTop sz="93447" autoAdjust="0"/>
  </p:normalViewPr>
  <p:slideViewPr>
    <p:cSldViewPr>
      <p:cViewPr varScale="1">
        <p:scale>
          <a:sx n="56" d="100"/>
          <a:sy n="56" d="100"/>
        </p:scale>
        <p:origin x="165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0.xml"/><Relationship Id="rId2" Type="http://schemas.openxmlformats.org/officeDocument/2006/relationships/slide" Target="slides/slide5.xml"/><Relationship Id="rId1" Type="http://schemas.openxmlformats.org/officeDocument/2006/relationships/slide" Target="slides/slide1.xml"/><Relationship Id="rId6" Type="http://schemas.openxmlformats.org/officeDocument/2006/relationships/slide" Target="slides/slide42.xml"/><Relationship Id="rId5" Type="http://schemas.openxmlformats.org/officeDocument/2006/relationships/slide" Target="slides/slide35.xml"/><Relationship Id="rId4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51972E4-2FB1-5545-A774-664D41C1D4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50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39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AF100D4-BB46-6748-84D4-F681254872A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881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>
                <a:latin typeface="Times New Roman" pitchFamily="-110" charset="0"/>
              </a:rPr>
              <a:t> and Architecture</a:t>
            </a:r>
            <a:r>
              <a:rPr lang="en-US" dirty="0">
                <a:latin typeface="Times New Roman" pitchFamily="-110" charset="0"/>
              </a:rPr>
              <a:t>”, 10/e, by William Stallings, Chapter 6 “Internal</a:t>
            </a:r>
            <a:r>
              <a:rPr lang="en-US" baseline="0" dirty="0">
                <a:latin typeface="Times New Roman" pitchFamily="-110" charset="0"/>
              </a:rPr>
              <a:t> Memory</a:t>
            </a:r>
            <a:r>
              <a:rPr lang="en-US" dirty="0">
                <a:latin typeface="Times New Roman" pitchFamily="-110" charset="0"/>
              </a:rPr>
              <a:t>”.</a:t>
            </a:r>
            <a:endParaRPr lang="en-AU" dirty="0">
              <a:latin typeface="Times New Roman" pitchFamily="-110" charset="0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We begin this chapter with a survey of semiconductor main memory subsystems,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including ROM, DRAM, and SRAM memories. Then we look at error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techniques used to enhance memory reliability. Following this, we look at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advanced DRAM architectures.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F81B-52FE-36CC-E798-DEE90793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8F7CC-1D58-5B3A-3D6A-00A18B3C4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3DE79-0762-D8F8-A6D5-6FBC0BAA6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5ED45-C228-1039-FCEC-D0D24054D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61681-95B4-95D2-0FB6-A151462C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66728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068F92-8AEC-D440-9E10-926B51F83CF2}" type="slidenum">
              <a:rPr lang="en-US"/>
              <a:pPr/>
              <a:t>5</a:t>
            </a:fld>
            <a:endParaRPr lang="en-US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semiconductor memory system is subject to errors. These can be categorized 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 failures and soft errors.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 failure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permanent physical defect so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cell or cells affected cannot reliably store data but become stuck 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0 or 1 or switch erratically between 0 and 1. Hard errors can be caused by harsh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environmental abuse, manufacturing defects, and wear.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soft error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random,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nondestructive event that alters the contents of one or more memory cells without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damaging the memory. Soft errors can be caused by power supply problems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alpha particles. These particles result from radioactive decay and are distressingly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common because radioactive nuclei are found in small quantities in nearly all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materials. Both hard and soft errors are clearly undesirable, and most modern main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systems include logic for both detecting and correcting errors.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15CD0F-AC83-3144-A171-B3A02E924D72}" type="slidenum">
              <a:rPr lang="en-US"/>
              <a:pPr/>
              <a:t>6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5.7 illustrates in general terms how the process is carried out. When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to be written into memory, a calculation, depicted as a function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performed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the data to produce a code. Both the code and the data are stored. Thus,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M-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 word of data is to be stored and the code is of length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bits, then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actual size of the stored word is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+ K bits.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previously stored word is read out, the code is used to detect and possibly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correct errors. A new set of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bits is generated from the M data bits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compared with the fetched code bits. The comparison yields one of three results: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No errors are detected. The fetched data bits are sent out.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An error is detected, and it is possible to correct the error. The data bits plus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correction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are fed into a corrector, which produces a corrected set of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to be sent out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An error is detected, but it is not possible to correct it. This condition is reported.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Codes that operate in this fashion are referred to as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error-correcting codes.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is characterized by the number of bit errors in a word that it can correct and detect.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first three columns of Table 5.2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lists the number of check bits required for various data word lengths.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convenience, we would like to generate a 4-bit syndrome for an 8-bit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 with the following characteristics: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If the syndrome contains all 0s, no error has been detected.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If the syndrome contains one and only one bit set to 1, then an error has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occurred in one of the 4 check bits. No correction is needed.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If the syndrome contains more than one bit set to 1, then the numerical value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syndrome indicates the position of the data bit in error. This data bit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inverted for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36DF-FB87-8D9F-A770-582AB74BD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6E02C-FFFB-51A8-CCB8-4D5481E61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CD3A2-892D-CEA0-DDA3-1D6F92B7B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3F55-0746-B50E-8704-61A2389538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FD6F4-FFBE-0919-787B-37DA31CE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30363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AB6520-AEC6-1F4C-A4D2-E0B5E5244B83}" type="slidenum">
              <a:rPr lang="en-US"/>
              <a:pPr/>
              <a:t>30</a:t>
            </a:fld>
            <a:endParaRPr lang="en-US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1, one of the most critical system bottlenecks when using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high-performance processors is the interface to main internal memory. This interface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the most important pathway in the entire computer system. The basic building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block of main memory remains the DRAM chip, as it has for decades; until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recently, there had been no significant changes in DRAM architecture since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early 1970s. The traditional DRAM chip is constrained both by its internal architecture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by its interface to the processor’s memory bus.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We have seen that one attack on the performance problem of DRAM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main memory has been to insert one or more levels of high-speed SRAM cache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DRAM main memory and the processor. But SRAM is much costlier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DRAM, and expanding cache size beyond a certain point yields diminishing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returns.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In recent years, a number of enhancements to the basic DRAM architecture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have been explored. The schemes that currently dominate the market are SDRAM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DDR-DRAM. We examine each of these in turn.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008C96-8EFC-B24C-8368-E796C58D0EFE}" type="slidenum">
              <a:rPr lang="en-US"/>
              <a:pPr/>
              <a:t>31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of the most widely used forms of DRAM is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DRAM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(SDRAM)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[VOGL94]. Unlike the traditional DRAM, which is asynchronous,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SDRAM exchanges data with the processor synchronized to an external clock signal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running at the full speed of the processor/memory bus without imposing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wait states.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 typical DRAM, the processor presents addresses and control levels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memory, indicating that a set of data at a particular location in memory should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either read from or written into the DRAM. After a delay, the access time,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 either writes or reads the data. During the access-time delay, the DRAM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performs various internal functions, such as activating the high capacitance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 and column lines, sensing the data, and routing the data out through the output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buffers. The processor must simply wait through this delay, slowing system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performance.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synchronous access, the DRAM moves data in and out under control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system clock. The processor or other master issues the instruction and address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information, which is latched by the DRAM. The DRAM then responds after a set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clock cycles. Meanwhile, the master can safely do other tasks while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SDRAM is processing the request.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Figure 6.12 shows the internal logic of a typical 256-Mb SDRAM typical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SDRAM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Table 6.3 defines the various pin assignments.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SDRAM employs a burst mode to eliminate the address setup time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 and column line pre-charge time after the first access. In burst mode, a series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bits can be clocked out rapidly after the first bit has been accessed. This mode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useful when all the bits to be accessed are in sequence and in the same row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 as the initial access. In addition, the SDRAM has a multiple-bank internal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architecture that improves opportunities for on-chip parallelism.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mode register and associated control logic is another key feature differentiating</a:t>
            </a:r>
          </a:p>
          <a:p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SDRAMs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from conventional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It provides a mechanism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customize the SDRAM to suit specific system needs. The mode register specifies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burst length, which is the number of separate units of data synchronously fed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onto the bus. The register also allows the programmer to adjust the latency between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receipt of a read request and the beginning of data transfer.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SDRAM performs best when it is transferring large blocks of data serially,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such as for applications like word processing, spreadsheets, and multimedia.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Although SDRAM is a significant improvement on asynchronous RAM, it still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has shortcomings that unnecessarily limit that I/O data rate that can be achieve. To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these shortcomings a newer version of SDRAM, referred to as double-data-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rate DRAM (DDR RAM) provides several features that dramatically increase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rate. DDR DRAM was developed by the JEDEC Solid State Technology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Association, the Electronic Industries Alliance’s semiconductor-engineering-standardization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body. Numerous companies make DDR chips, which are widely used in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desktop computers and servers.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DDR achieves higher data rates in three ways. First, the data transfer is synchronized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both the rising and falling edge of the clock, rather than just the rising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edge. This doubles the data rate; hence the term double data rate . Second, DDR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uses higher clock rate on the bus to increase the transfer rate. Third, a buffering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scheme is used, as explained subsequently.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JDEC has thus far defined four generations of the DDR technology (Table 5.4).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initial DDR version makes use of a 2-bit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prefetch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buffer. The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prefetch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buffer 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memory cache located on the SDRAM chip. It enables the SDRAM chip to preposition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to be placed on the data bus as rapidly as possible. The DDR I/O bus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uses the same clock rate as the memory chip, but because it can handle two bits per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cycle, it achieves a data rate that is double the clock rate. The 2-bit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prefetch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buffer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enables the SDRAM chip to keep up with the I/O 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7410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14D7-7F26-7816-D3DE-04506E89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67E6B-883F-B4BF-F019-35ED7C189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55FF6-D0E7-2C64-9A9B-DD07F86B9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B659E-7B7F-BE20-CF73-DA9231CC7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13284-AC17-FF81-9832-356EF545E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12930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00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6945-AA7B-FBB5-C0FB-D6E55399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414C0-92F2-B033-5A18-7EC8DE90C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F39C7-A741-CBEF-7302-08CE7C45C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91034-522C-D31D-C151-CF1278BA7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2D12-8372-E78E-B757-ECA60E7E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07148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Another form of semiconductor memory is flash memory. Flash memory is used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both for internal memory and external memory applications. Here, we provide a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technical overview and look at its use for internal memory.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First introduced in the mid-1980s, flash memory is intermediate between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EPROM and EEPROM in both cost and functionality. Like EEPROM, flash memory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uses an electrical erasing technology. An entire flash memory can be erased in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a few seconds, which is much faster than EPROM. In addition, it is possible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erase just blocks of memory rather than an entire chip. Flash memory gets its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name because the microchip is organized so that a section of memory cells are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erased in a single action or "flash." However, flash memory does not provide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bytelevel</a:t>
            </a:r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erasure. Like EPROM, flash memory uses only one transistor per bit, and so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achieves the high density (compared with EEPROM) of EPROM.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4222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42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Chapter 5 summary.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 dirty="0"/>
              <a:t>© 2016 Pearson Education, Inc., Hoboken, NJ.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William Stallings </a:t>
            </a:r>
            <a:br>
              <a:rPr lang="en-GB" dirty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br>
              <a:rPr lang="en-GB" dirty="0"/>
            </a:br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9552" y="4221088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611560" y="5013176"/>
            <a:ext cx="8610600" cy="838200"/>
          </a:xfrm>
        </p:spPr>
        <p:txBody>
          <a:bodyPr>
            <a:normAutofit/>
          </a:bodyPr>
          <a:lstStyle/>
          <a:p>
            <a:r>
              <a:rPr lang="en-US" sz="4400" dirty="0"/>
              <a:t>Internal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6798-61D1-F105-7455-90187608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5F6769-1778-BDEB-40F8-D38D7F99B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520" y="3547409"/>
            <a:ext cx="5472608" cy="2401871"/>
          </a:xfrm>
        </p:spPr>
        <p:txBody>
          <a:bodyPr>
            <a:noAutofit/>
          </a:bodyPr>
          <a:lstStyle/>
          <a:p>
            <a:r>
              <a:rPr lang="en-US" sz="4400" dirty="0"/>
              <a:t>6.2 Error Correction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D92F9-5712-1EBD-E99B-EB21BF3EADE1}"/>
              </a:ext>
            </a:extLst>
          </p:cNvPr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1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in Semiconductor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Semiconductor memory system is subject to errors</a:t>
            </a:r>
          </a:p>
          <a:p>
            <a:r>
              <a:rPr lang="en-US" sz="2400" dirty="0"/>
              <a:t>Two types of failures:</a:t>
            </a:r>
          </a:p>
          <a:p>
            <a:pPr lvl="1"/>
            <a:r>
              <a:rPr lang="en-US" sz="2200" dirty="0"/>
              <a:t>Hard failures</a:t>
            </a:r>
          </a:p>
          <a:p>
            <a:pPr lvl="1"/>
            <a:r>
              <a:rPr lang="en-US" sz="2200" dirty="0"/>
              <a:t>Soft Error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What can go wrong in a hard failure?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What can go wrong in a soft failure?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0"/>
            <a:ext cx="7556313" cy="8367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 Correction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8100392" cy="5949280"/>
          </a:xfrm>
        </p:spPr>
        <p:txBody>
          <a:bodyPr>
            <a:normAutofit/>
          </a:bodyPr>
          <a:lstStyle/>
          <a:p>
            <a:r>
              <a:rPr lang="en-US" b="1" dirty="0"/>
              <a:t>Hard Failure</a:t>
            </a:r>
          </a:p>
          <a:p>
            <a:pPr lvl="1"/>
            <a:r>
              <a:rPr lang="en-US" dirty="0"/>
              <a:t>Permanent physical defect</a:t>
            </a:r>
          </a:p>
          <a:p>
            <a:pPr lvl="1"/>
            <a:r>
              <a:rPr lang="en-US" dirty="0"/>
              <a:t>Memory cell or cells affected cannot reliably store data but become stuck at 0 or 1 or switch erratically between 0 and 1</a:t>
            </a:r>
          </a:p>
          <a:p>
            <a:pPr lvl="1"/>
            <a:r>
              <a:rPr lang="en-US" dirty="0"/>
              <a:t>Can be caused by: </a:t>
            </a:r>
          </a:p>
          <a:p>
            <a:pPr lvl="2"/>
            <a:r>
              <a:rPr lang="en-US" dirty="0"/>
              <a:t>Harsh environmental abuse</a:t>
            </a:r>
          </a:p>
          <a:p>
            <a:pPr lvl="2"/>
            <a:r>
              <a:rPr lang="en-US" dirty="0"/>
              <a:t>Manufacturing defects</a:t>
            </a:r>
          </a:p>
          <a:p>
            <a:pPr lvl="2"/>
            <a:r>
              <a:rPr lang="en-US" dirty="0"/>
              <a:t>Wear</a:t>
            </a:r>
          </a:p>
          <a:p>
            <a:r>
              <a:rPr lang="en-US" b="1" dirty="0"/>
              <a:t>Soft Error</a:t>
            </a:r>
          </a:p>
          <a:p>
            <a:pPr lvl="1"/>
            <a:r>
              <a:rPr lang="en-US" dirty="0"/>
              <a:t>Random, non-destructive event that alters the contents of one or more memory cells </a:t>
            </a:r>
          </a:p>
          <a:p>
            <a:pPr lvl="1"/>
            <a:r>
              <a:rPr lang="en-US" dirty="0"/>
              <a:t>No permanent damage to memory</a:t>
            </a:r>
          </a:p>
          <a:p>
            <a:pPr lvl="1"/>
            <a:r>
              <a:rPr lang="en-US" dirty="0"/>
              <a:t>Can be caused by: </a:t>
            </a:r>
          </a:p>
          <a:p>
            <a:pPr lvl="2"/>
            <a:r>
              <a:rPr lang="en-US" dirty="0"/>
              <a:t>Power supply problems</a:t>
            </a:r>
          </a:p>
          <a:p>
            <a:pPr lvl="2"/>
            <a:r>
              <a:rPr lang="en-US" dirty="0"/>
              <a:t>Alpha particles – radio active decay because radioactive nuclei are found in small quantities in nearly all materials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7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76" b="39298"/>
          <a:stretch/>
        </p:blipFill>
        <p:spPr>
          <a:xfrm>
            <a:off x="-252536" y="1628800"/>
            <a:ext cx="9396536" cy="481858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Correct Logic</a:t>
            </a:r>
          </a:p>
        </p:txBody>
      </p:sp>
    </p:spTree>
  </p:cSld>
  <p:clrMapOvr>
    <a:masterClrMapping/>
  </p:clrMapOvr>
  <p:transition spd="med">
    <p:wheel spokes="2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Correction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981200"/>
            <a:ext cx="8645526" cy="4144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data are to be written into memory, a calculation, depicted as a function f, is performed on the data to produce a code. </a:t>
            </a:r>
          </a:p>
          <a:p>
            <a:r>
              <a:rPr lang="en-US" dirty="0"/>
              <a:t>Both the code and the data are stored. Thus, if an M bit word of data is to be stored and the code is of length K bits, then the actual size of the stored word is M + K bits.</a:t>
            </a:r>
          </a:p>
          <a:p>
            <a:r>
              <a:rPr lang="en-US" dirty="0"/>
              <a:t>When the previously stored word is read out, the code is used to detect and possibly correct errors. </a:t>
            </a:r>
          </a:p>
          <a:p>
            <a:r>
              <a:rPr lang="en-US" dirty="0"/>
              <a:t>A new set of K code bits is generated from the M data bits and compared with the fetched code</a:t>
            </a:r>
          </a:p>
          <a:p>
            <a:r>
              <a:rPr lang="en-US" dirty="0"/>
              <a:t>Codes that operate in this fashion are called error-correcting codes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Bit (Not in Book)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00808"/>
            <a:ext cx="9144000" cy="414496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To detect errors in data communication and processing, an additional bit is sometimes added to a binary code word to define its parity.</a:t>
            </a:r>
          </a:p>
          <a:p>
            <a:r>
              <a:rPr lang="en-US" sz="2400" dirty="0"/>
              <a:t>A parity bit is the extra bit included to make the total number of 1’s in the resulting code word either even or odd.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Bit Example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536" y="2060848"/>
            <a:ext cx="831114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Parity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8645526" cy="414496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Even parity is more common</a:t>
            </a:r>
          </a:p>
          <a:p>
            <a:r>
              <a:rPr lang="en-US" sz="2400" dirty="0"/>
              <a:t>Parity may be used with binary numbers</a:t>
            </a:r>
          </a:p>
          <a:p>
            <a:r>
              <a:rPr lang="en-US" sz="2400" dirty="0"/>
              <a:t>The parity bit may be placed in any fixed position in the code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Bit Generation and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092349"/>
            <a:ext cx="8645526" cy="41449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An even parity bit is generated at the sending end for all 7-bit ASCII characters</a:t>
            </a:r>
          </a:p>
          <a:p>
            <a:r>
              <a:rPr lang="en-US" sz="2400" dirty="0"/>
              <a:t>The 8-bit characters including the parity bits are transmitted to their destination</a:t>
            </a:r>
          </a:p>
          <a:p>
            <a:r>
              <a:rPr lang="en-US" sz="2400" dirty="0"/>
              <a:t>The parity of each character is then checked at the receiving end</a:t>
            </a:r>
          </a:p>
          <a:p>
            <a:r>
              <a:rPr lang="en-US" sz="2400" dirty="0"/>
              <a:t>If the parity of the received character is not even (assuming even parity is used), at least one bit has changed its value during the transmission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Parity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8645526" cy="41449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If the number of bits changed is even, the error will not be detected.</a:t>
            </a:r>
          </a:p>
          <a:p>
            <a:r>
              <a:rPr lang="en-US" sz="2400" dirty="0"/>
              <a:t>It can only detect one, three, or any odd number of errors in each character.</a:t>
            </a:r>
          </a:p>
          <a:p>
            <a:r>
              <a:rPr lang="en-US" sz="2400" dirty="0"/>
              <a:t>Parity does not indicate which bit contained the error, even when it can detect it.</a:t>
            </a:r>
          </a:p>
          <a:p>
            <a:r>
              <a:rPr lang="en-US" sz="2400" dirty="0"/>
              <a:t>The data must be discarded entirely and re- transmitted from scratch.</a:t>
            </a:r>
          </a:p>
          <a:p>
            <a:r>
              <a:rPr lang="en-US" sz="2400" dirty="0"/>
              <a:t>It uses only a single bit, resulting in the least overhead.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16832"/>
            <a:ext cx="9144000" cy="4144963"/>
          </a:xfrm>
        </p:spPr>
        <p:txBody>
          <a:bodyPr>
            <a:normAutofit/>
          </a:bodyPr>
          <a:lstStyle/>
          <a:p>
            <a:r>
              <a:rPr lang="en-US" dirty="0"/>
              <a:t>The most common types of error-correcting codes used in RAM are based on the codes devised by R.W. Hamming.</a:t>
            </a:r>
          </a:p>
          <a:p>
            <a:r>
              <a:rPr lang="en-US" dirty="0"/>
              <a:t>K parity bits are added to an n-bit data word, forming a new word of n + k bits.</a:t>
            </a:r>
          </a:p>
          <a:p>
            <a:r>
              <a:rPr lang="en-US" dirty="0"/>
              <a:t>The bit positions are numbered in sequence from 1 to n + k.</a:t>
            </a:r>
          </a:p>
          <a:p>
            <a:r>
              <a:rPr lang="en-US" dirty="0"/>
              <a:t>Those positions numbered with </a:t>
            </a:r>
            <a:r>
              <a:rPr lang="en-US" b="1" dirty="0"/>
              <a:t>powers of two </a:t>
            </a:r>
            <a:r>
              <a:rPr lang="en-US" dirty="0"/>
              <a:t>are reserved for the parity bits.</a:t>
            </a:r>
          </a:p>
          <a:p>
            <a:r>
              <a:rPr lang="en-US" dirty="0"/>
              <a:t>The code can be used with words of any length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412776"/>
            <a:ext cx="8645526" cy="4680520"/>
          </a:xfrm>
        </p:spPr>
        <p:txBody>
          <a:bodyPr>
            <a:noAutofit/>
          </a:bodyPr>
          <a:lstStyle/>
          <a:p>
            <a:r>
              <a:rPr lang="en-US" sz="2400" dirty="0"/>
              <a:t>Suppose we want to send 8 bits</a:t>
            </a:r>
          </a:p>
          <a:p>
            <a:r>
              <a:rPr lang="en-US" sz="2400" dirty="0"/>
              <a:t>D1, D2, D3,… D7 D8</a:t>
            </a:r>
          </a:p>
          <a:p>
            <a:r>
              <a:rPr lang="en-US" sz="2400" dirty="0"/>
              <a:t>Determine how many Parity Bits needed?</a:t>
            </a:r>
          </a:p>
          <a:p>
            <a:r>
              <a:rPr lang="en-US" sz="2400" dirty="0"/>
              <a:t>Use the equation: 2</a:t>
            </a:r>
            <a:r>
              <a:rPr lang="en-US" sz="2400" baseline="30000" dirty="0"/>
              <a:t>k</a:t>
            </a:r>
            <a:r>
              <a:rPr lang="en-US" sz="2400" dirty="0"/>
              <a:t> – 1 &gt;= D + K</a:t>
            </a:r>
          </a:p>
          <a:p>
            <a:r>
              <a:rPr lang="en-US" sz="2400" dirty="0"/>
              <a:t>For example D=8:</a:t>
            </a:r>
          </a:p>
          <a:p>
            <a:pPr lvl="1"/>
            <a:r>
              <a:rPr lang="en-US" sz="2400" dirty="0"/>
              <a:t>K=3: 2</a:t>
            </a:r>
            <a:r>
              <a:rPr lang="en-US" sz="2400" baseline="30000" dirty="0"/>
              <a:t>3</a:t>
            </a:r>
            <a:r>
              <a:rPr lang="en-US" sz="2400" dirty="0"/>
              <a:t> – 1 &lt; 8 + 3</a:t>
            </a:r>
          </a:p>
          <a:p>
            <a:pPr lvl="1"/>
            <a:r>
              <a:rPr lang="en-US" sz="2400" dirty="0"/>
              <a:t>K=4: 2</a:t>
            </a:r>
            <a:r>
              <a:rPr lang="en-US" sz="2400" baseline="30000" dirty="0"/>
              <a:t>4</a:t>
            </a:r>
            <a:r>
              <a:rPr lang="en-US" sz="2400" dirty="0"/>
              <a:t> – 1 &gt; 8 + 3</a:t>
            </a:r>
          </a:p>
          <a:p>
            <a:r>
              <a:rPr lang="en-US" sz="2400" dirty="0"/>
              <a:t>We need 4 Parity bits or Check bits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many parity bits de we need for 7 bit data?</a:t>
            </a:r>
          </a:p>
          <a:p>
            <a:endParaRPr lang="en-US" sz="2400" dirty="0"/>
          </a:p>
          <a:p>
            <a:r>
              <a:rPr lang="en-US" sz="2400" dirty="0"/>
              <a:t>7 Data Bits</a:t>
            </a:r>
          </a:p>
          <a:p>
            <a:r>
              <a:rPr lang="en-US" sz="2400" dirty="0"/>
              <a:t>4 Check Bits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Let say we want to transmit the following 8 bits of data </a:t>
            </a:r>
            <a:r>
              <a:rPr lang="en-US" sz="2400" b="1" dirty="0"/>
              <a:t>00111001</a:t>
            </a:r>
          </a:p>
          <a:p>
            <a:endParaRPr lang="en-US" sz="2400" dirty="0"/>
          </a:p>
          <a:p>
            <a:r>
              <a:rPr lang="en-US" sz="2400" dirty="0"/>
              <a:t>Create the transmitted data with parity bits</a:t>
            </a:r>
          </a:p>
          <a:p>
            <a:r>
              <a:rPr lang="en-US" sz="2400" dirty="0"/>
              <a:t>Parity/Check bit is added at every power of 2</a:t>
            </a:r>
          </a:p>
          <a:p>
            <a:r>
              <a:rPr lang="en-US" sz="2400" dirty="0"/>
              <a:t>Locations 1, 2, 4, 8 and so on</a:t>
            </a:r>
          </a:p>
          <a:p>
            <a:r>
              <a:rPr lang="en-US" sz="2400" dirty="0"/>
              <a:t>So total bits to transfer?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Example:  8-bits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161A6-4480-260C-2814-35982F2B2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04" y="2204864"/>
            <a:ext cx="9291008" cy="17281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EFDEB-C358-0572-F349-3D67BA79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FA18-15B8-A3FF-D0F1-4B222497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Example:  8-bits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2F077-7249-0BD7-08BF-7DCA6BFF4A81}"/>
              </a:ext>
            </a:extLst>
          </p:cNvPr>
          <p:cNvSpPr txBox="1">
            <a:spLocks/>
          </p:cNvSpPr>
          <p:nvPr/>
        </p:nvSpPr>
        <p:spPr>
          <a:xfrm>
            <a:off x="498474" y="4149080"/>
            <a:ext cx="8645526" cy="194421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dirty="0"/>
              <a:t>For C1 check position numbers with Least Significant Bit is 1</a:t>
            </a:r>
          </a:p>
          <a:p>
            <a:pPr fontAlgn="auto">
              <a:spcAft>
                <a:spcPts val="0"/>
              </a:spcAft>
            </a:pPr>
            <a:r>
              <a:rPr lang="en-US" sz="2400" dirty="0"/>
              <a:t>That would be 3, 5, 7, 9,11</a:t>
            </a:r>
          </a:p>
          <a:p>
            <a:pPr fontAlgn="auto">
              <a:spcAft>
                <a:spcPts val="0"/>
              </a:spcAft>
            </a:pPr>
            <a:r>
              <a:rPr lang="en-US" sz="2400" dirty="0"/>
              <a:t>So we can say D1, D2, D4, D5, D7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D74D3-7171-9012-A83C-1F79A7114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3" y="1218456"/>
            <a:ext cx="9291008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1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9A01-DD8A-0F73-7578-B5638358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0AA2-74D4-75A6-5479-13F040E6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Example:  8-bits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69AEF-B96F-84EC-29FC-0597CF4A203C}"/>
              </a:ext>
            </a:extLst>
          </p:cNvPr>
          <p:cNvSpPr txBox="1">
            <a:spLocks/>
          </p:cNvSpPr>
          <p:nvPr/>
        </p:nvSpPr>
        <p:spPr>
          <a:xfrm>
            <a:off x="477906" y="3429000"/>
            <a:ext cx="8645526" cy="31683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dirty="0"/>
              <a:t>For C2 check bit position number 2 with a 1</a:t>
            </a:r>
          </a:p>
          <a:p>
            <a:pPr fontAlgn="auto">
              <a:spcAft>
                <a:spcPts val="0"/>
              </a:spcAft>
            </a:pPr>
            <a:r>
              <a:rPr lang="en-US" sz="2400" dirty="0"/>
              <a:t>That would be 3, 6, 7, 10 and 11</a:t>
            </a:r>
          </a:p>
          <a:p>
            <a:pPr fontAlgn="auto">
              <a:spcAft>
                <a:spcPts val="0"/>
              </a:spcAft>
            </a:pPr>
            <a:r>
              <a:rPr lang="en-US" sz="2400" dirty="0"/>
              <a:t>So we can say D1, D3, D4, D6, D7</a:t>
            </a:r>
          </a:p>
          <a:p>
            <a:pPr fontAlgn="auto">
              <a:spcAft>
                <a:spcPts val="0"/>
              </a:spcAft>
            </a:pPr>
            <a:endParaRPr lang="en-US" sz="2400" dirty="0"/>
          </a:p>
          <a:p>
            <a:pPr fontAlgn="auto">
              <a:spcAft>
                <a:spcPts val="0"/>
              </a:spcAft>
            </a:pPr>
            <a:r>
              <a:rPr lang="en-US" sz="2400" dirty="0"/>
              <a:t>For C4, bit position 3 and For C8, bit position 4</a:t>
            </a:r>
          </a:p>
          <a:p>
            <a:pPr fontAlgn="auto">
              <a:spcAft>
                <a:spcPts val="0"/>
              </a:spcAft>
            </a:pPr>
            <a:endParaRPr lang="en-US" sz="2400" dirty="0"/>
          </a:p>
          <a:p>
            <a:pPr fontAlgn="auto">
              <a:spcAft>
                <a:spcPts val="0"/>
              </a:spcAft>
            </a:pPr>
            <a:endParaRPr lang="en-US" sz="2400" dirty="0"/>
          </a:p>
          <a:p>
            <a:pPr marL="0" indent="0" fontAlgn="auto">
              <a:spcAft>
                <a:spcPts val="0"/>
              </a:spcAft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60077-D10F-81E0-6FA3-EC567B51B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3" y="1218456"/>
            <a:ext cx="9291008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9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Example:  8-bits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7DC9E-52EE-B0DF-E32B-78727AE37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0" t="8009"/>
          <a:stretch>
            <a:fillRect/>
          </a:stretch>
        </p:blipFill>
        <p:spPr>
          <a:xfrm>
            <a:off x="251520" y="3861048"/>
            <a:ext cx="7428379" cy="2152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22A4D0-0965-9266-EDBD-3C6D9D700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291008" cy="17281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C893-4DE2-94A6-DE76-02718C8B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7736-CE16-4B72-C1D7-EC1D8020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Xor</a:t>
            </a:r>
            <a:r>
              <a:rPr lang="en-US" dirty="0"/>
              <a:t> – Exclusive 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422DC-590F-FFE0-7770-260F9DE37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64" y="1600200"/>
            <a:ext cx="3355216" cy="4339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942A18-0522-0962-4693-338B5FE3A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946" y="1600200"/>
            <a:ext cx="2666350" cy="511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44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E8962-A421-1B0B-73D1-811C9F4EC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A1B0-E275-2DE8-EE23-7FC6665D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Example:  8-bits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E2D624-32D3-4B66-7C09-20D438D3D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0" t="8009"/>
          <a:stretch>
            <a:fillRect/>
          </a:stretch>
        </p:blipFill>
        <p:spPr>
          <a:xfrm>
            <a:off x="329578" y="2060848"/>
            <a:ext cx="7428379" cy="2152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E3C80D-C0E3-53D3-837F-FBB3FB5DF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78" y="4378771"/>
            <a:ext cx="5156902" cy="24590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632717-2856-0685-CD43-3EE9AD4055DC}"/>
              </a:ext>
            </a:extLst>
          </p:cNvPr>
          <p:cNvSpPr txBox="1"/>
          <p:nvPr/>
        </p:nvSpPr>
        <p:spPr>
          <a:xfrm>
            <a:off x="498474" y="1257307"/>
            <a:ext cx="65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00111001</a:t>
            </a:r>
            <a:endParaRPr lang="en-CA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10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E05B-B6C5-E3A4-4EBB-E145015D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B7D1-3841-760C-A1E4-402EC782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A1C90-F121-548D-CE3A-3487C1B71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147"/>
          <a:stretch>
            <a:fillRect/>
          </a:stretch>
        </p:blipFill>
        <p:spPr>
          <a:xfrm>
            <a:off x="9168" y="2708920"/>
            <a:ext cx="9153197" cy="20256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89ABB-ABE1-B5C7-D465-745C81216723}"/>
              </a:ext>
            </a:extLst>
          </p:cNvPr>
          <p:cNvSpPr txBox="1"/>
          <p:nvPr/>
        </p:nvSpPr>
        <p:spPr>
          <a:xfrm>
            <a:off x="498474" y="1600200"/>
            <a:ext cx="65938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00111001</a:t>
            </a: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Assume, Bit position 3 gets inverted</a:t>
            </a:r>
            <a:endParaRPr lang="en-CA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666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DD4E-2135-4343-6B8D-E15E3462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8192F-AC4B-5043-4A1B-35C09214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Example:  8-bits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EA7A14-7E7A-082B-C4FA-0ADAE3BB53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0" t="8009"/>
          <a:stretch>
            <a:fillRect/>
          </a:stretch>
        </p:blipFill>
        <p:spPr>
          <a:xfrm>
            <a:off x="251520" y="2352582"/>
            <a:ext cx="7428379" cy="215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61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995FD-8B19-D4B3-8ED4-FC4C780C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2CA6-5D28-6302-6159-80436CD1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Example:  8-bits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67059-9D7F-3F49-FE04-E470F014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2" y="1412776"/>
            <a:ext cx="5156902" cy="2459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77E93C-3693-D24E-053B-989FAE571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58" y="4077072"/>
            <a:ext cx="5178606" cy="249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17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7E29D-50B9-EC7F-A7C5-88C6CF454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" y="2708920"/>
            <a:ext cx="9153197" cy="3384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3A32BA-FE59-4412-965A-E0FBE2F09A85}"/>
              </a:ext>
            </a:extLst>
          </p:cNvPr>
          <p:cNvSpPr txBox="1"/>
          <p:nvPr/>
        </p:nvSpPr>
        <p:spPr>
          <a:xfrm>
            <a:off x="498474" y="1600200"/>
            <a:ext cx="385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00111001</a:t>
            </a:r>
            <a:endParaRPr lang="en-CA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27843-3880-F18C-1A72-34ACE9CE6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1" y="2276872"/>
            <a:ext cx="4723813" cy="26642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052736"/>
            <a:ext cx="8918599" cy="360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279" y="4725144"/>
            <a:ext cx="9130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Table 5.2  </a:t>
            </a:r>
          </a:p>
          <a:p>
            <a:pPr algn="ctr"/>
            <a:r>
              <a:rPr lang="en-US" dirty="0">
                <a:latin typeface="+mj-lt"/>
              </a:rPr>
              <a:t>Increase in Word Length with Error Correction </a:t>
            </a:r>
          </a:p>
        </p:txBody>
      </p:sp>
    </p:spTree>
  </p:cSld>
  <p:clrMapOvr>
    <a:masterClrMapping/>
  </p:clrMapOvr>
  <p:transition spd="med">
    <p:spli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AAA0F-EFAC-A676-4F63-BBFC012EB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E70765D-E182-7DDF-59C5-5FE633E7A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528" y="3501689"/>
            <a:ext cx="5472608" cy="2401871"/>
          </a:xfrm>
        </p:spPr>
        <p:txBody>
          <a:bodyPr>
            <a:noAutofit/>
          </a:bodyPr>
          <a:lstStyle/>
          <a:p>
            <a:r>
              <a:rPr lang="en-US" sz="4400" dirty="0"/>
              <a:t>6.3 DDR DRAM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4A20F-EDBC-CE71-E3E2-BE437D190386}"/>
              </a:ext>
            </a:extLst>
          </p:cNvPr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91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5432" y="476672"/>
            <a:ext cx="67818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DRAM Organization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51520" y="1916832"/>
            <a:ext cx="6552728" cy="4536504"/>
          </a:xfrm>
        </p:spPr>
        <p:txBody>
          <a:bodyPr>
            <a:normAutofit/>
          </a:bodyPr>
          <a:lstStyle/>
          <a:p>
            <a:pPr marL="228600" lvl="1" indent="-228600">
              <a:lnSpc>
                <a:spcPct val="90000"/>
              </a:lnSpc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2000" dirty="0"/>
              <a:t>Dynamic Random-Access Memory</a:t>
            </a:r>
          </a:p>
          <a:p>
            <a:pPr marL="228600" lvl="1" indent="-228600">
              <a:lnSpc>
                <a:spcPct val="90000"/>
              </a:lnSpc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2000" dirty="0"/>
              <a:t>One of the most critical system bottlenecks when using high-performance processors is the interface to main internal memory</a:t>
            </a:r>
          </a:p>
          <a:p>
            <a:pPr marL="228600" lvl="1" indent="-228600">
              <a:lnSpc>
                <a:spcPct val="90000"/>
              </a:lnSpc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2000" dirty="0"/>
              <a:t>The traditional DRAM chip is constrained both by its internal architecture and by its interface to the processor’s memory bus</a:t>
            </a:r>
          </a:p>
          <a:p>
            <a:pPr marL="228600" lvl="1" indent="-228600">
              <a:lnSpc>
                <a:spcPct val="90000"/>
              </a:lnSpc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2000" dirty="0"/>
              <a:t>A number of enhancements to the basic DRAM architecture have been explored</a:t>
            </a:r>
          </a:p>
          <a:p>
            <a:pPr marL="685800" lvl="2" indent="-228600">
              <a:lnSpc>
                <a:spcPct val="90000"/>
              </a:lnSpc>
              <a:spcBef>
                <a:spcPts val="2000"/>
              </a:spcBef>
              <a:buFont typeface="Wingdings" pitchFamily="2" charset="2"/>
              <a:buChar char="n"/>
            </a:pPr>
            <a:r>
              <a:rPr lang="en-US" sz="1800" dirty="0"/>
              <a:t>The schemes that currently dominate the market are SDRAM and DDR-DRAM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800" y="685800"/>
            <a:ext cx="205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SDRAM</a:t>
            </a: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1800" y="3505200"/>
            <a:ext cx="205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RDRAM</a:t>
            </a: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1800" y="1600200"/>
            <a:ext cx="2057400" cy="1200328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dirty="0">
                <a:solidFill>
                  <a:srgbClr val="FFFFFF"/>
                </a:solidFill>
              </a:rPr>
              <a:t>DDR-DRAM</a:t>
            </a: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 useBgFill="1">
        <p:nvSpPr>
          <p:cNvPr id="10" name="TextBox 9"/>
          <p:cNvSpPr txBox="1"/>
          <p:nvPr/>
        </p:nvSpPr>
        <p:spPr>
          <a:xfrm>
            <a:off x="8839200" y="0"/>
            <a:ext cx="314841" cy="44958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1" name="TextBox 10"/>
          <p:cNvSpPr txBox="1"/>
          <p:nvPr/>
        </p:nvSpPr>
        <p:spPr>
          <a:xfrm>
            <a:off x="6699250" y="1"/>
            <a:ext cx="158750" cy="4541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spli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Synchronous DRAM (SDRAM)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556792"/>
            <a:ext cx="8748464" cy="456937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One of the most </a:t>
            </a:r>
            <a:r>
              <a:rPr lang="en-US" b="1" dirty="0"/>
              <a:t>widely used</a:t>
            </a:r>
            <a:r>
              <a:rPr lang="en-US" dirty="0"/>
              <a:t> forms of DRAM</a:t>
            </a:r>
          </a:p>
          <a:p>
            <a:pPr lvl="0"/>
            <a:r>
              <a:rPr lang="en-US" dirty="0"/>
              <a:t>Exchanges data with the processor </a:t>
            </a:r>
            <a:r>
              <a:rPr lang="en-US" b="1" dirty="0"/>
              <a:t>synchronized to an external clock</a:t>
            </a:r>
            <a:r>
              <a:rPr lang="en-US" dirty="0"/>
              <a:t> signal and running at the full speed of the processor/memory bus without imposing wait states</a:t>
            </a:r>
          </a:p>
          <a:p>
            <a:pPr lvl="0"/>
            <a:r>
              <a:rPr lang="en-US" dirty="0"/>
              <a:t>With synchronous access the DRAM moves data in and out under control of the system clock</a:t>
            </a:r>
          </a:p>
          <a:p>
            <a:pPr lvl="1"/>
            <a:r>
              <a:rPr lang="en-US" sz="2000" dirty="0"/>
              <a:t>The processor or other master issues the instruction and address information which is latched by the DRAM</a:t>
            </a:r>
          </a:p>
          <a:p>
            <a:pPr lvl="1"/>
            <a:r>
              <a:rPr lang="en-US" sz="2000" dirty="0"/>
              <a:t>The DRAM then responds after a set number of clock cycles</a:t>
            </a:r>
          </a:p>
          <a:p>
            <a:pPr lvl="1"/>
            <a:r>
              <a:rPr lang="en-US" sz="2000" dirty="0"/>
              <a:t>Meanwhile the master can safely do other tasks while the SDRAM is processing</a:t>
            </a:r>
          </a:p>
          <a:p>
            <a:pPr lvl="0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138214-90E3-F51B-72EC-513AD62C9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" y="332656"/>
            <a:ext cx="8309952" cy="6305012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Logic of SDRAM 256-MB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4824"/>
            <a:ext cx="9144000" cy="4464496"/>
          </a:xfrm>
        </p:spPr>
        <p:txBody>
          <a:bodyPr>
            <a:normAutofit/>
          </a:bodyPr>
          <a:lstStyle/>
          <a:p>
            <a:r>
              <a:rPr lang="en-US" dirty="0"/>
              <a:t>SDRAM employs a </a:t>
            </a:r>
            <a:r>
              <a:rPr lang="en-US" b="1" dirty="0"/>
              <a:t>burst mode to eliminate the address setup time </a:t>
            </a:r>
            <a:r>
              <a:rPr lang="en-US" dirty="0"/>
              <a:t>and row and column line </a:t>
            </a:r>
            <a:r>
              <a:rPr lang="en-US" dirty="0" err="1"/>
              <a:t>precharge</a:t>
            </a:r>
            <a:r>
              <a:rPr lang="en-US" dirty="0"/>
              <a:t> time after the first access. </a:t>
            </a:r>
          </a:p>
          <a:p>
            <a:r>
              <a:rPr lang="en-US" dirty="0"/>
              <a:t>In </a:t>
            </a:r>
            <a:r>
              <a:rPr lang="en-US" b="1" dirty="0"/>
              <a:t>burst</a:t>
            </a:r>
            <a:r>
              <a:rPr lang="en-US" dirty="0"/>
              <a:t> mode, a series of data bits can be clocked out rapidly after the first bit has been accessed. </a:t>
            </a:r>
          </a:p>
          <a:p>
            <a:r>
              <a:rPr lang="en-US" dirty="0"/>
              <a:t>This mode is useful when all the bits to be accessed are in sequence and in the </a:t>
            </a:r>
            <a:r>
              <a:rPr lang="en-US" b="1" dirty="0"/>
              <a:t>same row of the array as the initial access</a:t>
            </a:r>
            <a:r>
              <a:rPr lang="en-US" dirty="0"/>
              <a:t>. </a:t>
            </a:r>
          </a:p>
          <a:p>
            <a:r>
              <a:rPr lang="en-US" dirty="0"/>
              <a:t>In addition, the SDRAM has a </a:t>
            </a:r>
            <a:r>
              <a:rPr lang="en-US" b="1" dirty="0"/>
              <a:t>multiple-bank</a:t>
            </a:r>
            <a:r>
              <a:rPr lang="en-US" dirty="0"/>
              <a:t> internal architecture that improves opportunities for </a:t>
            </a:r>
            <a:r>
              <a:rPr lang="en-US" b="1" dirty="0"/>
              <a:t>on-chip parallelism</a:t>
            </a:r>
            <a:r>
              <a:rPr lang="en-US" dirty="0"/>
              <a:t>.</a:t>
            </a:r>
          </a:p>
          <a:p>
            <a:r>
              <a:rPr lang="en-US" dirty="0"/>
              <a:t>Performs best when it is </a:t>
            </a:r>
            <a:r>
              <a:rPr lang="en-US" b="1" dirty="0"/>
              <a:t>transferring large blocks </a:t>
            </a:r>
            <a:r>
              <a:rPr lang="en-US" dirty="0"/>
              <a:t>of data sequentially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44208" y="1484784"/>
            <a:ext cx="24837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+mn-lt"/>
              </a:rPr>
              <a:t>Table 6.3 </a:t>
            </a:r>
          </a:p>
          <a:p>
            <a:pPr algn="ctr"/>
            <a:r>
              <a:rPr lang="en-US" sz="2800" dirty="0">
                <a:latin typeface="+mn-lt"/>
              </a:rPr>
              <a:t> </a:t>
            </a:r>
          </a:p>
          <a:p>
            <a:pPr algn="ctr"/>
            <a:r>
              <a:rPr lang="en-US" sz="2800" dirty="0">
                <a:latin typeface="+mn-lt"/>
              </a:rPr>
              <a:t> SDRAM </a:t>
            </a:r>
          </a:p>
          <a:p>
            <a:pPr algn="ctr"/>
            <a:r>
              <a:rPr lang="en-US" sz="2800" dirty="0">
                <a:latin typeface="+mn-lt"/>
              </a:rPr>
              <a:t>Pin </a:t>
            </a:r>
          </a:p>
          <a:p>
            <a:pPr algn="ctr"/>
            <a:r>
              <a:rPr lang="en-US" sz="2800" dirty="0">
                <a:latin typeface="+mn-lt"/>
              </a:rPr>
              <a:t>Assignments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19191-A3C6-6335-C4F9-7B9945D28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83" y="467995"/>
            <a:ext cx="6270361" cy="5922009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6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 Data Rate SDRAM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(DDR SDRAM)</a:t>
            </a:r>
          </a:p>
        </p:txBody>
      </p:sp>
      <p:sp>
        <p:nvSpPr>
          <p:cNvPr id="166917" name="Rectangle 5"/>
          <p:cNvSpPr>
            <a:spLocks noGrp="1" noChangeArrowheads="1"/>
          </p:cNvSpPr>
          <p:nvPr>
            <p:ph idx="1"/>
          </p:nvPr>
        </p:nvSpPr>
        <p:spPr>
          <a:xfrm>
            <a:off x="0" y="2209800"/>
            <a:ext cx="9144000" cy="4373563"/>
          </a:xfrm>
        </p:spPr>
        <p:txBody>
          <a:bodyPr/>
          <a:lstStyle/>
          <a:p>
            <a:r>
              <a:rPr lang="en-GB" dirty="0"/>
              <a:t>Developed by the JEDEC Solid State Technology Association (Electronic Industries Alliance’s semiconductor-engineering-standardization body)</a:t>
            </a:r>
          </a:p>
          <a:p>
            <a:r>
              <a:rPr lang="en-GB" dirty="0"/>
              <a:t>Numerous companies make DDR chips, which are widely used in desktop computers and servers</a:t>
            </a:r>
          </a:p>
          <a:p>
            <a:r>
              <a:rPr lang="en-GB" dirty="0"/>
              <a:t>DDR achieves higher data rates in three ways:</a:t>
            </a:r>
          </a:p>
          <a:p>
            <a:pPr lvl="1"/>
            <a:r>
              <a:rPr lang="en-GB" sz="2000" dirty="0"/>
              <a:t>First, the </a:t>
            </a:r>
            <a:r>
              <a:rPr lang="en-GB" sz="2000" b="1" dirty="0"/>
              <a:t>data transfer is synchronized </a:t>
            </a:r>
            <a:r>
              <a:rPr lang="en-GB" sz="2000" dirty="0"/>
              <a:t>to both the rising and falling edge of the clock, rather than just the rising edge</a:t>
            </a:r>
          </a:p>
          <a:p>
            <a:pPr lvl="1"/>
            <a:r>
              <a:rPr lang="en-GB" sz="2000" dirty="0"/>
              <a:t>Second, DDR uses </a:t>
            </a:r>
            <a:r>
              <a:rPr lang="en-GB" sz="2000" b="1" dirty="0"/>
              <a:t>higher clock rate </a:t>
            </a:r>
            <a:r>
              <a:rPr lang="en-GB" sz="2000" dirty="0"/>
              <a:t>on the bus to increase the transfer rate</a:t>
            </a:r>
          </a:p>
          <a:p>
            <a:pPr lvl="1"/>
            <a:r>
              <a:rPr lang="en-GB" sz="2000" dirty="0"/>
              <a:t>Third, a </a:t>
            </a:r>
            <a:r>
              <a:rPr lang="en-GB" sz="2000" b="1" dirty="0"/>
              <a:t>buffering scheme </a:t>
            </a:r>
            <a:r>
              <a:rPr lang="en-GB" sz="2000" dirty="0"/>
              <a:t>is used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2-Bit </a:t>
            </a:r>
            <a:r>
              <a:rPr lang="en-US" dirty="0" err="1"/>
              <a:t>Prefetch</a:t>
            </a:r>
            <a:r>
              <a:rPr lang="en-US" dirty="0"/>
              <a:t>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81200"/>
            <a:ext cx="9144000" cy="4144963"/>
          </a:xfrm>
        </p:spPr>
        <p:txBody>
          <a:bodyPr>
            <a:normAutofit/>
          </a:bodyPr>
          <a:lstStyle/>
          <a:p>
            <a:r>
              <a:rPr lang="en-US" dirty="0"/>
              <a:t>The initial DDR version makes use of a 2-bit </a:t>
            </a:r>
            <a:r>
              <a:rPr lang="en-US" dirty="0" err="1"/>
              <a:t>prefetch</a:t>
            </a:r>
            <a:r>
              <a:rPr lang="en-US" dirty="0"/>
              <a:t> buffer. </a:t>
            </a:r>
          </a:p>
          <a:p>
            <a:r>
              <a:rPr lang="en-US" dirty="0"/>
              <a:t>The </a:t>
            </a:r>
            <a:r>
              <a:rPr lang="en-US" dirty="0" err="1"/>
              <a:t>prefetch</a:t>
            </a:r>
            <a:r>
              <a:rPr lang="en-US" dirty="0"/>
              <a:t> buffer is a memory cache located on the SDRAM chip. </a:t>
            </a:r>
          </a:p>
          <a:p>
            <a:r>
              <a:rPr lang="en-US" dirty="0"/>
              <a:t>It enables the SDRAM chip to preposition bits to be placed on the data bus as rapidly as possible. </a:t>
            </a:r>
          </a:p>
          <a:p>
            <a:r>
              <a:rPr lang="en-US" dirty="0"/>
              <a:t>The DDR I/O bus uses the same clock rate as the memory chip, but because it can handle two bits per cycle, it achieves a data rate that is double the clock rate. </a:t>
            </a:r>
          </a:p>
          <a:p>
            <a:r>
              <a:rPr lang="en-US" dirty="0"/>
              <a:t>The 2-bit </a:t>
            </a:r>
            <a:r>
              <a:rPr lang="en-US" dirty="0" err="1"/>
              <a:t>prefetch</a:t>
            </a:r>
            <a:r>
              <a:rPr lang="en-US" dirty="0"/>
              <a:t> buffer enables the SDRAM chip to keep up with the I/O bus.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71785" y="4365104"/>
            <a:ext cx="35957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Table 6.4   </a:t>
            </a:r>
          </a:p>
          <a:p>
            <a:pPr algn="ctr"/>
            <a:r>
              <a:rPr lang="en-US" sz="2800" dirty="0">
                <a:latin typeface="+mj-lt"/>
              </a:rPr>
              <a:t>DDR Characteristics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8F113-102D-8E91-F67C-43AB74F9E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447349"/>
            <a:ext cx="8300824" cy="181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1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23830-AA9D-21D9-000C-9D55FCB1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71A7482-2E81-905D-8211-B78DFC7FE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528" y="3501689"/>
            <a:ext cx="5472608" cy="2401871"/>
          </a:xfrm>
        </p:spPr>
        <p:txBody>
          <a:bodyPr>
            <a:noAutofit/>
          </a:bodyPr>
          <a:lstStyle/>
          <a:p>
            <a:r>
              <a:rPr lang="en-US" sz="4400" dirty="0"/>
              <a:t>6.4 EDRAM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51557-7093-8869-C832-29BA33473367}"/>
              </a:ext>
            </a:extLst>
          </p:cNvPr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010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4824"/>
            <a:ext cx="8964488" cy="446449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Embedded DRAM (</a:t>
            </a:r>
            <a:r>
              <a:rPr lang="en-US" sz="2400" dirty="0" err="1"/>
              <a:t>eDRAM</a:t>
            </a:r>
            <a:r>
              <a:rPr lang="en-US" sz="2400" dirty="0"/>
              <a:t>). </a:t>
            </a:r>
            <a:r>
              <a:rPr lang="en-US" sz="2400" dirty="0" err="1"/>
              <a:t>eDRAM</a:t>
            </a:r>
            <a:r>
              <a:rPr lang="en-US" sz="2400" dirty="0"/>
              <a:t> is a DRAM integrated on the same chip or MCM of an application-specific integrated circuit (ASIC) or microprocessor. </a:t>
            </a:r>
          </a:p>
          <a:p>
            <a:r>
              <a:rPr lang="en-US" sz="2400" dirty="0" err="1"/>
              <a:t>eDRAM</a:t>
            </a:r>
            <a:r>
              <a:rPr lang="en-US" sz="2400" dirty="0"/>
              <a:t> is intermediate between on-chip SRAM and off-chip DRAM:</a:t>
            </a:r>
          </a:p>
          <a:p>
            <a:pPr lvl="1"/>
            <a:r>
              <a:rPr lang="en-US" sz="2000" dirty="0"/>
              <a:t> For the same surface area, </a:t>
            </a:r>
            <a:r>
              <a:rPr lang="en-US" sz="2000" dirty="0" err="1"/>
              <a:t>eDRAM</a:t>
            </a:r>
            <a:r>
              <a:rPr lang="en-US" sz="2000" dirty="0"/>
              <a:t> provides a </a:t>
            </a:r>
            <a:r>
              <a:rPr lang="en-US" sz="2000" b="1" dirty="0"/>
              <a:t>larger size memory </a:t>
            </a:r>
            <a:r>
              <a:rPr lang="en-US" sz="2000" dirty="0"/>
              <a:t>than SRAM but smaller than off-chip DRAM.</a:t>
            </a:r>
          </a:p>
          <a:p>
            <a:pPr lvl="1"/>
            <a:r>
              <a:rPr lang="en-US" sz="2000" dirty="0" err="1"/>
              <a:t>eDRAM’s</a:t>
            </a:r>
            <a:r>
              <a:rPr lang="en-US" sz="2000" dirty="0"/>
              <a:t> cost-per-bit is </a:t>
            </a:r>
            <a:r>
              <a:rPr lang="en-US" sz="2000" b="1" dirty="0"/>
              <a:t>higher</a:t>
            </a:r>
            <a:r>
              <a:rPr lang="en-US" sz="2000" dirty="0"/>
              <a:t> than stand alone DRAM chips used as external memory, but it has a </a:t>
            </a:r>
            <a:r>
              <a:rPr lang="en-US" sz="2000" b="1" dirty="0"/>
              <a:t>lower</a:t>
            </a:r>
            <a:r>
              <a:rPr lang="en-US" sz="2000" dirty="0"/>
              <a:t> cost-per-bit than SRAM.</a:t>
            </a:r>
          </a:p>
          <a:p>
            <a:pPr lvl="1"/>
            <a:r>
              <a:rPr lang="en-US" sz="2000" dirty="0"/>
              <a:t>Access time to </a:t>
            </a:r>
            <a:r>
              <a:rPr lang="en-US" sz="2000" dirty="0" err="1"/>
              <a:t>eDRAM</a:t>
            </a:r>
            <a:r>
              <a:rPr lang="en-US" sz="2000" dirty="0"/>
              <a:t> is greater than SRAM but, because of its </a:t>
            </a:r>
            <a:r>
              <a:rPr lang="en-US" sz="2000" b="1" dirty="0"/>
              <a:t>proximity</a:t>
            </a:r>
            <a:r>
              <a:rPr lang="en-US" sz="2000" dirty="0"/>
              <a:t> and the ability to use </a:t>
            </a:r>
            <a:r>
              <a:rPr lang="en-US" sz="2000" b="1" dirty="0"/>
              <a:t>wider busses</a:t>
            </a:r>
            <a:r>
              <a:rPr lang="en-US" sz="2000" dirty="0"/>
              <a:t>, </a:t>
            </a:r>
            <a:r>
              <a:rPr lang="en-US" sz="2000" dirty="0" err="1"/>
              <a:t>eDRAM</a:t>
            </a:r>
            <a:r>
              <a:rPr lang="en-US" sz="2000" dirty="0"/>
              <a:t> </a:t>
            </a:r>
            <a:r>
              <a:rPr lang="en-US" sz="2000" b="1" dirty="0"/>
              <a:t>provides faster access </a:t>
            </a:r>
            <a:r>
              <a:rPr lang="en-US" sz="2000" dirty="0"/>
              <a:t>than DRAM.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1099A-90C0-0136-0220-5DFDC6F1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E93BA9-456F-B3D4-F944-95977F77A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528" y="3501689"/>
            <a:ext cx="5472608" cy="2401871"/>
          </a:xfrm>
        </p:spPr>
        <p:txBody>
          <a:bodyPr>
            <a:noAutofit/>
          </a:bodyPr>
          <a:lstStyle/>
          <a:p>
            <a:r>
              <a:rPr lang="en-US" sz="4400" dirty="0"/>
              <a:t>6.5 Flash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80A5D-0A9D-FCF8-9067-15BB30F38240}"/>
              </a:ext>
            </a:extLst>
          </p:cNvPr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46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8394006" cy="55172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Used both for internal memory and external memory applications</a:t>
            </a:r>
          </a:p>
          <a:p>
            <a:r>
              <a:rPr lang="en-US" dirty="0"/>
              <a:t>First introduced in the mid-1980’s</a:t>
            </a:r>
          </a:p>
          <a:p>
            <a:r>
              <a:rPr lang="en-US" dirty="0"/>
              <a:t>Is intermediate between EPROM and EEPROM in both cost and functionality</a:t>
            </a:r>
          </a:p>
          <a:p>
            <a:r>
              <a:rPr lang="en-US" dirty="0"/>
              <a:t>Uses an electrical erasing technology like EEPROM</a:t>
            </a:r>
          </a:p>
          <a:p>
            <a:r>
              <a:rPr lang="en-US" dirty="0"/>
              <a:t>It is possible to erase just blocks of memory rather than an entire chip</a:t>
            </a:r>
          </a:p>
          <a:p>
            <a:r>
              <a:rPr lang="en-US" dirty="0"/>
              <a:t>Gets its name because the microchip is organized so that a section of memory cells are erased in a single action</a:t>
            </a:r>
          </a:p>
          <a:p>
            <a:r>
              <a:rPr lang="en-US" dirty="0"/>
              <a:t>Does not provide byte-level erasure</a:t>
            </a:r>
          </a:p>
          <a:p>
            <a:r>
              <a:rPr lang="en-US" dirty="0"/>
              <a:t>Uses only one transistor per bit so it achieves the high density of EPROM</a:t>
            </a:r>
          </a:p>
        </p:txBody>
      </p:sp>
    </p:spTree>
    <p:extLst>
      <p:ext uri="{BB962C8B-B14F-4D97-AF65-F5344CB8AC3E}">
        <p14:creationId xmlns:p14="http://schemas.microsoft.com/office/powerpoint/2010/main" val="1632115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3657600" cy="43434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Semiconductor main memory</a:t>
            </a:r>
          </a:p>
          <a:p>
            <a:pPr lvl="1"/>
            <a:r>
              <a:rPr lang="en-US" dirty="0"/>
              <a:t>Organization</a:t>
            </a:r>
          </a:p>
          <a:p>
            <a:pPr lvl="1"/>
            <a:r>
              <a:rPr lang="en-US" dirty="0"/>
              <a:t>DRAM and SRAM</a:t>
            </a:r>
          </a:p>
          <a:p>
            <a:pPr lvl="1"/>
            <a:r>
              <a:rPr lang="en-US" dirty="0"/>
              <a:t>Types of ROM</a:t>
            </a:r>
          </a:p>
          <a:p>
            <a:pPr lvl="1"/>
            <a:r>
              <a:rPr lang="en-US" dirty="0"/>
              <a:t>Chip logic</a:t>
            </a:r>
          </a:p>
          <a:p>
            <a:pPr lvl="1"/>
            <a:r>
              <a:rPr lang="en-US" dirty="0"/>
              <a:t>Chip packaging</a:t>
            </a:r>
          </a:p>
          <a:p>
            <a:pPr lvl="1"/>
            <a:r>
              <a:rPr lang="en-US" dirty="0"/>
              <a:t>Module organization</a:t>
            </a:r>
          </a:p>
          <a:p>
            <a:pPr lvl="1"/>
            <a:r>
              <a:rPr lang="en-US" dirty="0"/>
              <a:t>Interleaved memory</a:t>
            </a:r>
          </a:p>
          <a:p>
            <a:pPr>
              <a:spcBef>
                <a:spcPts val="600"/>
              </a:spcBef>
            </a:pPr>
            <a:r>
              <a:rPr lang="en-US" dirty="0"/>
              <a:t>Error correction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495800" y="2743200"/>
            <a:ext cx="3810000" cy="4343400"/>
          </a:xfrm>
        </p:spPr>
        <p:txBody>
          <a:bodyPr>
            <a:normAutofit/>
          </a:bodyPr>
          <a:lstStyle/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/>
              <a:t>DDR DRAM</a:t>
            </a:r>
          </a:p>
          <a:p>
            <a:pPr lvl="1"/>
            <a:r>
              <a:rPr lang="en-US" dirty="0"/>
              <a:t>Synchronous DRAM</a:t>
            </a:r>
          </a:p>
          <a:p>
            <a:pPr lvl="1"/>
            <a:r>
              <a:rPr lang="en-US" dirty="0"/>
              <a:t>DDR SDRAM</a:t>
            </a:r>
          </a:p>
          <a:p>
            <a:r>
              <a:rPr lang="en-US" dirty="0"/>
              <a:t>EDRAM</a:t>
            </a:r>
          </a:p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/>
              <a:t>Flash memory</a:t>
            </a:r>
          </a:p>
          <a:p>
            <a:pPr lvl="1"/>
            <a:r>
              <a:rPr lang="en-US" dirty="0"/>
              <a:t>Operation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3657600" cy="1098177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endParaRPr lang="en-US" sz="800" dirty="0"/>
          </a:p>
          <a:p>
            <a:r>
              <a:rPr lang="en-US" sz="3200" dirty="0"/>
              <a:t>Chapter 6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Internal</a:t>
            </a:r>
          </a:p>
          <a:p>
            <a:r>
              <a:rPr lang="en-US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Memory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60C97-FE10-D18C-439E-A5A3C0BF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A1B4-F59E-D4C7-958D-9ABE397DA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Quiz Next Week</a:t>
            </a:r>
          </a:p>
          <a:p>
            <a:pPr lvl="1"/>
            <a:r>
              <a:rPr lang="en-CA" dirty="0"/>
              <a:t>Short Question and Answers, in-class on </a:t>
            </a:r>
            <a:r>
              <a:rPr lang="en-CA"/>
              <a:t>paper Chapter 5 and 6</a:t>
            </a:r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Assignment 1</a:t>
            </a:r>
          </a:p>
          <a:p>
            <a:pPr lvl="1"/>
            <a:r>
              <a:rPr lang="en-CA" dirty="0"/>
              <a:t>Questions from chapter 1-6</a:t>
            </a:r>
          </a:p>
          <a:p>
            <a:pPr lvl="1"/>
            <a:r>
              <a:rPr lang="en-CA" dirty="0"/>
              <a:t>Solution to be submitted online</a:t>
            </a:r>
          </a:p>
        </p:txBody>
      </p:sp>
    </p:spTree>
    <p:extLst>
      <p:ext uri="{BB962C8B-B14F-4D97-AF65-F5344CB8AC3E}">
        <p14:creationId xmlns:p14="http://schemas.microsoft.com/office/powerpoint/2010/main" val="4236254490"/>
      </p:ext>
    </p:extLst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5235</TotalTime>
  <Words>3638</Words>
  <Application>Microsoft Office PowerPoint</Application>
  <PresentationFormat>On-screen Show (4:3)</PresentationFormat>
  <Paragraphs>398</Paragraphs>
  <Slides>43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Rockwell</vt:lpstr>
      <vt:lpstr>Times New Roman</vt:lpstr>
      <vt:lpstr>Wingdings</vt:lpstr>
      <vt:lpstr>Advantage</vt:lpstr>
      <vt:lpstr>William Stallings  Computer Organization  and Architecture 10th Edition</vt:lpstr>
      <vt:lpstr>Chapter 6</vt:lpstr>
      <vt:lpstr>PowerPoint Presentation</vt:lpstr>
      <vt:lpstr>Errors in Semiconductor Memory</vt:lpstr>
      <vt:lpstr>Error Correction</vt:lpstr>
      <vt:lpstr>Error Correct Logic</vt:lpstr>
      <vt:lpstr>Error Correction Logic</vt:lpstr>
      <vt:lpstr>Parity Bit (Not in Book)</vt:lpstr>
      <vt:lpstr>Parity Bit Example</vt:lpstr>
      <vt:lpstr>Characteristics of Parity</vt:lpstr>
      <vt:lpstr>Parity Bit Generation and Checking</vt:lpstr>
      <vt:lpstr>Pros and Cons of Parity</vt:lpstr>
      <vt:lpstr>Hamming Code</vt:lpstr>
      <vt:lpstr>Hamming Code Example</vt:lpstr>
      <vt:lpstr>Hamming Code Example</vt:lpstr>
      <vt:lpstr>Hamming Code Example</vt:lpstr>
      <vt:lpstr>Hamming Code Example:  8-bits</vt:lpstr>
      <vt:lpstr>Hamming Code Example:  8-bits</vt:lpstr>
      <vt:lpstr>Hamming Code Example:  8-bits</vt:lpstr>
      <vt:lpstr>Hamming Code Example:  8-bits</vt:lpstr>
      <vt:lpstr>Xor – Exclusive Or</vt:lpstr>
      <vt:lpstr>Hamming Code Example:  8-bits</vt:lpstr>
      <vt:lpstr>Hamming Code</vt:lpstr>
      <vt:lpstr>Hamming Code Example:  8-bits</vt:lpstr>
      <vt:lpstr>Hamming Code Example:  8-bits</vt:lpstr>
      <vt:lpstr>Hamming Code</vt:lpstr>
      <vt:lpstr>Hamming Code</vt:lpstr>
      <vt:lpstr>PowerPoint Presentation</vt:lpstr>
      <vt:lpstr>PowerPoint Presentation</vt:lpstr>
      <vt:lpstr>Advanced DRAM Organization</vt:lpstr>
      <vt:lpstr>Synchronous DRAM (SDRAM)</vt:lpstr>
      <vt:lpstr>PowerPoint Presentation</vt:lpstr>
      <vt:lpstr>Internal Logic of SDRAM 256-MB</vt:lpstr>
      <vt:lpstr>PowerPoint Presentation</vt:lpstr>
      <vt:lpstr>Double Data Rate SDRAM  (DDR SDRAM)</vt:lpstr>
      <vt:lpstr>2-Bit Prefetch Buffer</vt:lpstr>
      <vt:lpstr>PowerPoint Presentation</vt:lpstr>
      <vt:lpstr>PowerPoint Presentation</vt:lpstr>
      <vt:lpstr>EDRAM</vt:lpstr>
      <vt:lpstr>PowerPoint Presentation</vt:lpstr>
      <vt:lpstr>Flash Memory</vt:lpstr>
      <vt:lpstr>Summary</vt:lpstr>
      <vt:lpstr>Important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 Internal Memory</dc:title>
  <dc:creator>Adrian J Pullin</dc:creator>
  <cp:lastModifiedBy>Haider Zaidi</cp:lastModifiedBy>
  <cp:revision>257</cp:revision>
  <dcterms:created xsi:type="dcterms:W3CDTF">2015-02-15T03:24:50Z</dcterms:created>
  <dcterms:modified xsi:type="dcterms:W3CDTF">2025-10-22T20:33:22Z</dcterms:modified>
</cp:coreProperties>
</file>