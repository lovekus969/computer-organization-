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5" r:id="rId1"/>
  </p:sldMasterIdLst>
  <p:notesMasterIdLst>
    <p:notesMasterId r:id="rId26"/>
  </p:notesMasterIdLst>
  <p:handoutMasterIdLst>
    <p:handoutMasterId r:id="rId27"/>
  </p:handoutMasterIdLst>
  <p:sldIdLst>
    <p:sldId id="351" r:id="rId2"/>
    <p:sldId id="352" r:id="rId3"/>
    <p:sldId id="600" r:id="rId4"/>
    <p:sldId id="360" r:id="rId5"/>
    <p:sldId id="361" r:id="rId6"/>
    <p:sldId id="340" r:id="rId7"/>
    <p:sldId id="362" r:id="rId8"/>
    <p:sldId id="273" r:id="rId9"/>
    <p:sldId id="363" r:id="rId10"/>
    <p:sldId id="320" r:id="rId11"/>
    <p:sldId id="325" r:id="rId12"/>
    <p:sldId id="308" r:id="rId13"/>
    <p:sldId id="343" r:id="rId14"/>
    <p:sldId id="344" r:id="rId15"/>
    <p:sldId id="364" r:id="rId16"/>
    <p:sldId id="365" r:id="rId17"/>
    <p:sldId id="366" r:id="rId18"/>
    <p:sldId id="309" r:id="rId19"/>
    <p:sldId id="277" r:id="rId20"/>
    <p:sldId id="367" r:id="rId21"/>
    <p:sldId id="368" r:id="rId22"/>
    <p:sldId id="278" r:id="rId23"/>
    <p:sldId id="333" r:id="rId24"/>
    <p:sldId id="601" r:id="rId2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9" autoAdjust="0"/>
    <p:restoredTop sz="80342" autoAdjust="0"/>
  </p:normalViewPr>
  <p:slideViewPr>
    <p:cSldViewPr>
      <p:cViewPr varScale="1">
        <p:scale>
          <a:sx n="47" d="100"/>
          <a:sy n="47" d="100"/>
        </p:scale>
        <p:origin x="1916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9.xml"/><Relationship Id="rId2" Type="http://schemas.openxmlformats.org/officeDocument/2006/relationships/slide" Target="slides/slide8.xml"/><Relationship Id="rId1" Type="http://schemas.openxmlformats.org/officeDocument/2006/relationships/slide" Target="slides/slide1.xml"/><Relationship Id="rId5" Type="http://schemas.openxmlformats.org/officeDocument/2006/relationships/slide" Target="slides/slide12.xml"/><Relationship Id="rId4" Type="http://schemas.openxmlformats.org/officeDocument/2006/relationships/slide" Target="slides/slide1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3BE324-DA86-ED4B-A593-27E2A934B691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404423-6AB9-EB4A-85D9-76B337FDB174}">
      <dgm:prSet custT="1"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EPROM</a:t>
          </a:r>
        </a:p>
      </dgm:t>
    </dgm:pt>
    <dgm:pt modelId="{87E0A1A0-3D6C-E44A-A686-A38CE1113DBF}" type="parTrans" cxnId="{387B7D78-C7C4-444B-B9AC-A3B1F7827C2E}">
      <dgm:prSet/>
      <dgm:spPr/>
      <dgm:t>
        <a:bodyPr/>
        <a:lstStyle/>
        <a:p>
          <a:endParaRPr lang="en-US" sz="1600"/>
        </a:p>
      </dgm:t>
    </dgm:pt>
    <dgm:pt modelId="{FE595A42-11C2-5545-9CAC-BEFD7802AE55}" type="sibTrans" cxnId="{387B7D78-C7C4-444B-B9AC-A3B1F7827C2E}">
      <dgm:prSet/>
      <dgm:spPr/>
      <dgm:t>
        <a:bodyPr/>
        <a:lstStyle/>
        <a:p>
          <a:endParaRPr lang="en-US" sz="1600"/>
        </a:p>
      </dgm:t>
    </dgm:pt>
    <dgm:pt modelId="{49316F22-BDD9-D344-8DF7-6042A787739E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8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Erasable programmable read-only memory – erase all cells before re-writing</a:t>
          </a:r>
        </a:p>
      </dgm:t>
    </dgm:pt>
    <dgm:pt modelId="{B0AB3EC3-0FBB-3B4A-B331-5C9FEEF4572D}" type="parTrans" cxnId="{EBD9BF48-6EF2-FC4F-9767-F5F9F3682BE3}">
      <dgm:prSet/>
      <dgm:spPr/>
      <dgm:t>
        <a:bodyPr/>
        <a:lstStyle/>
        <a:p>
          <a:endParaRPr lang="en-US" sz="1600"/>
        </a:p>
      </dgm:t>
    </dgm:pt>
    <dgm:pt modelId="{A1F0993D-402E-E94A-83D8-125058334C98}" type="sibTrans" cxnId="{EBD9BF48-6EF2-FC4F-9767-F5F9F3682BE3}">
      <dgm:prSet/>
      <dgm:spPr/>
      <dgm:t>
        <a:bodyPr/>
        <a:lstStyle/>
        <a:p>
          <a:endParaRPr lang="en-US" sz="1600"/>
        </a:p>
      </dgm:t>
    </dgm:pt>
    <dgm:pt modelId="{9D8833F6-FFF2-0043-8E19-662F3ECC0C69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8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More expensive than PROM but it has the advantage of the multiple update capability </a:t>
          </a:r>
        </a:p>
      </dgm:t>
    </dgm:pt>
    <dgm:pt modelId="{3B768F97-B4E7-2F4E-9C97-87DEA25921EC}" type="parTrans" cxnId="{7CF9623A-666F-6647-802A-A95493F8EBAC}">
      <dgm:prSet/>
      <dgm:spPr/>
      <dgm:t>
        <a:bodyPr/>
        <a:lstStyle/>
        <a:p>
          <a:endParaRPr lang="en-US" sz="1600"/>
        </a:p>
      </dgm:t>
    </dgm:pt>
    <dgm:pt modelId="{94D34039-8F97-4244-BD50-B01B3B91FF83}" type="sibTrans" cxnId="{7CF9623A-666F-6647-802A-A95493F8EBAC}">
      <dgm:prSet/>
      <dgm:spPr/>
      <dgm:t>
        <a:bodyPr/>
        <a:lstStyle/>
        <a:p>
          <a:endParaRPr lang="en-US" sz="1600"/>
        </a:p>
      </dgm:t>
    </dgm:pt>
    <dgm:pt modelId="{DF8EF88C-8D84-8C43-B810-AFB4651BAA39}">
      <dgm:prSet custT="1"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EEPROM</a:t>
          </a:r>
        </a:p>
      </dgm:t>
    </dgm:pt>
    <dgm:pt modelId="{DEF28F56-1015-8A41-A6BA-78C83248F303}" type="parTrans" cxnId="{EF616C56-3C8C-964B-9057-3E238C0F0AAC}">
      <dgm:prSet/>
      <dgm:spPr/>
      <dgm:t>
        <a:bodyPr/>
        <a:lstStyle/>
        <a:p>
          <a:endParaRPr lang="en-US" sz="1600"/>
        </a:p>
      </dgm:t>
    </dgm:pt>
    <dgm:pt modelId="{78B9242F-3EF8-2747-B1F7-03FF22C29C4C}" type="sibTrans" cxnId="{EF616C56-3C8C-964B-9057-3E238C0F0AAC}">
      <dgm:prSet/>
      <dgm:spPr/>
      <dgm:t>
        <a:bodyPr/>
        <a:lstStyle/>
        <a:p>
          <a:endParaRPr lang="en-US" sz="1600"/>
        </a:p>
      </dgm:t>
    </dgm:pt>
    <dgm:pt modelId="{90B5EB81-C31A-0E4D-847F-0FF7DA55B788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8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Electrically erasable programmable read-only memory</a:t>
          </a:r>
        </a:p>
      </dgm:t>
    </dgm:pt>
    <dgm:pt modelId="{73B3EB71-008F-4542-BCD6-0C44942298C8}" type="parTrans" cxnId="{DC9A8752-C01B-5A47-B511-EA531B99815E}">
      <dgm:prSet/>
      <dgm:spPr/>
      <dgm:t>
        <a:bodyPr/>
        <a:lstStyle/>
        <a:p>
          <a:endParaRPr lang="en-US" sz="1600"/>
        </a:p>
      </dgm:t>
    </dgm:pt>
    <dgm:pt modelId="{D7E515D4-956F-D843-9334-9C7B173CAC8C}" type="sibTrans" cxnId="{DC9A8752-C01B-5A47-B511-EA531B99815E}">
      <dgm:prSet/>
      <dgm:spPr/>
      <dgm:t>
        <a:bodyPr/>
        <a:lstStyle/>
        <a:p>
          <a:endParaRPr lang="en-US" sz="1600"/>
        </a:p>
      </dgm:t>
    </dgm:pt>
    <dgm:pt modelId="{0C2DECDD-0A85-9C48-9279-DE771DF08233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8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Can be written into at any time without erasing prior contents</a:t>
          </a:r>
        </a:p>
      </dgm:t>
    </dgm:pt>
    <dgm:pt modelId="{7764EC7D-F093-5B49-9AF0-7FACFB74B2BE}" type="parTrans" cxnId="{829B5222-6AED-A54A-AE19-EB32E3669E38}">
      <dgm:prSet/>
      <dgm:spPr/>
      <dgm:t>
        <a:bodyPr/>
        <a:lstStyle/>
        <a:p>
          <a:endParaRPr lang="en-US" sz="1600"/>
        </a:p>
      </dgm:t>
    </dgm:pt>
    <dgm:pt modelId="{4343323C-71F6-BB4A-B543-569B7D0B8E56}" type="sibTrans" cxnId="{829B5222-6AED-A54A-AE19-EB32E3669E38}">
      <dgm:prSet/>
      <dgm:spPr/>
      <dgm:t>
        <a:bodyPr/>
        <a:lstStyle/>
        <a:p>
          <a:endParaRPr lang="en-US" sz="1600"/>
        </a:p>
      </dgm:t>
    </dgm:pt>
    <dgm:pt modelId="{5CC91DBC-94A1-3243-BEC9-77629274AACC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8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Combines the advantage of non-volatility with the flexibility of being updatable in place, only addressed bytes are updated</a:t>
          </a:r>
        </a:p>
      </dgm:t>
    </dgm:pt>
    <dgm:pt modelId="{9A103E3D-8B8B-C740-A2C5-157681EBE064}" type="parTrans" cxnId="{29AEF786-463E-A14E-A0A0-C5390116F01B}">
      <dgm:prSet/>
      <dgm:spPr/>
      <dgm:t>
        <a:bodyPr/>
        <a:lstStyle/>
        <a:p>
          <a:endParaRPr lang="en-US" sz="1600"/>
        </a:p>
      </dgm:t>
    </dgm:pt>
    <dgm:pt modelId="{0176042C-95E5-A140-AA3A-0A69EA4BB932}" type="sibTrans" cxnId="{29AEF786-463E-A14E-A0A0-C5390116F01B}">
      <dgm:prSet/>
      <dgm:spPr/>
      <dgm:t>
        <a:bodyPr/>
        <a:lstStyle/>
        <a:p>
          <a:endParaRPr lang="en-US" sz="1600"/>
        </a:p>
      </dgm:t>
    </dgm:pt>
    <dgm:pt modelId="{6CF8E079-9113-B341-949B-0C8FE1D54943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8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More expensive than EPROM </a:t>
          </a:r>
        </a:p>
      </dgm:t>
    </dgm:pt>
    <dgm:pt modelId="{812DAFDD-DC6D-0B46-9650-4CDE2DDDB542}" type="parTrans" cxnId="{107BD4BB-EE41-8846-BB28-31BC5309E10B}">
      <dgm:prSet/>
      <dgm:spPr/>
      <dgm:t>
        <a:bodyPr/>
        <a:lstStyle/>
        <a:p>
          <a:endParaRPr lang="en-US" sz="1600"/>
        </a:p>
      </dgm:t>
    </dgm:pt>
    <dgm:pt modelId="{05CA5228-BB03-DB49-AF01-BB0808759185}" type="sibTrans" cxnId="{107BD4BB-EE41-8846-BB28-31BC5309E10B}">
      <dgm:prSet/>
      <dgm:spPr/>
      <dgm:t>
        <a:bodyPr/>
        <a:lstStyle/>
        <a:p>
          <a:endParaRPr lang="en-US" sz="1600"/>
        </a:p>
      </dgm:t>
    </dgm:pt>
    <dgm:pt modelId="{770FE41B-0D6A-BE46-8DE9-86FE2A665892}">
      <dgm:prSet custT="1"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Flash Memory</a:t>
          </a:r>
        </a:p>
      </dgm:t>
    </dgm:pt>
    <dgm:pt modelId="{6355C11E-EB04-F340-BF3E-8BF03EE0722F}" type="parTrans" cxnId="{480F4E87-8507-814B-A575-458F5CE9CAFD}">
      <dgm:prSet/>
      <dgm:spPr/>
      <dgm:t>
        <a:bodyPr/>
        <a:lstStyle/>
        <a:p>
          <a:endParaRPr lang="en-US" sz="1600"/>
        </a:p>
      </dgm:t>
    </dgm:pt>
    <dgm:pt modelId="{3CDBA012-2FB2-4447-813E-6E60F77BCDA8}" type="sibTrans" cxnId="{480F4E87-8507-814B-A575-458F5CE9CAFD}">
      <dgm:prSet/>
      <dgm:spPr/>
      <dgm:t>
        <a:bodyPr/>
        <a:lstStyle/>
        <a:p>
          <a:endParaRPr lang="en-US" sz="1600"/>
        </a:p>
      </dgm:t>
    </dgm:pt>
    <dgm:pt modelId="{300B7704-EB88-0641-811A-C749A83EA426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8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Intermediate between EPROM and EEPROM in both cost and functionality</a:t>
          </a:r>
        </a:p>
      </dgm:t>
    </dgm:pt>
    <dgm:pt modelId="{AABC2E9F-7452-C24F-B639-5D50CBED447C}" type="parTrans" cxnId="{8F3D9F74-F63D-C64B-A465-F7575AB5F59C}">
      <dgm:prSet/>
      <dgm:spPr/>
      <dgm:t>
        <a:bodyPr/>
        <a:lstStyle/>
        <a:p>
          <a:endParaRPr lang="en-US" sz="1600"/>
        </a:p>
      </dgm:t>
    </dgm:pt>
    <dgm:pt modelId="{0E6A06E8-568A-2C48-A7AD-2FDA807B86E2}" type="sibTrans" cxnId="{8F3D9F74-F63D-C64B-A465-F7575AB5F59C}">
      <dgm:prSet/>
      <dgm:spPr/>
      <dgm:t>
        <a:bodyPr/>
        <a:lstStyle/>
        <a:p>
          <a:endParaRPr lang="en-US" sz="1600"/>
        </a:p>
      </dgm:t>
    </dgm:pt>
    <dgm:pt modelId="{F1E0DF61-5B75-6A44-B10A-18FC603A31B1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8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Uses an electrical erasing technology, does not provide byte-level erasure</a:t>
          </a:r>
        </a:p>
      </dgm:t>
    </dgm:pt>
    <dgm:pt modelId="{A70A8BE2-DCCA-CC41-A04A-99DC6522C741}" type="parTrans" cxnId="{1410B755-6ED9-E748-8BFB-77A5A3935B42}">
      <dgm:prSet/>
      <dgm:spPr/>
      <dgm:t>
        <a:bodyPr/>
        <a:lstStyle/>
        <a:p>
          <a:endParaRPr lang="en-US" sz="1600"/>
        </a:p>
      </dgm:t>
    </dgm:pt>
    <dgm:pt modelId="{58DE4856-0A2D-5C4B-A519-E9C0BCD26CDD}" type="sibTrans" cxnId="{1410B755-6ED9-E748-8BFB-77A5A3935B42}">
      <dgm:prSet/>
      <dgm:spPr/>
      <dgm:t>
        <a:bodyPr/>
        <a:lstStyle/>
        <a:p>
          <a:endParaRPr lang="en-US" sz="1600"/>
        </a:p>
      </dgm:t>
    </dgm:pt>
    <dgm:pt modelId="{58F3BE6D-D555-5045-A6D7-6E7040258DBA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8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Microchip is organized so that a section of memory cells are erased in a single action or “flash”</a:t>
          </a:r>
        </a:p>
      </dgm:t>
    </dgm:pt>
    <dgm:pt modelId="{819336ED-ACC3-744E-ADDB-9033BDDCF9AB}" type="parTrans" cxnId="{C338AD96-B6B3-2847-8FC3-E0A1DC3B58F8}">
      <dgm:prSet/>
      <dgm:spPr/>
      <dgm:t>
        <a:bodyPr/>
        <a:lstStyle/>
        <a:p>
          <a:endParaRPr lang="en-US" sz="1600"/>
        </a:p>
      </dgm:t>
    </dgm:pt>
    <dgm:pt modelId="{BC224F86-9FC0-ED46-8347-22166A83EB87}" type="sibTrans" cxnId="{C338AD96-B6B3-2847-8FC3-E0A1DC3B58F8}">
      <dgm:prSet/>
      <dgm:spPr/>
      <dgm:t>
        <a:bodyPr/>
        <a:lstStyle/>
        <a:p>
          <a:endParaRPr lang="en-US" sz="1600"/>
        </a:p>
      </dgm:t>
    </dgm:pt>
    <dgm:pt modelId="{D3EA4055-C61C-4A03-A43C-9CF14C441770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8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Erasure process can be performed repeatedly using ultraviolet radiation</a:t>
          </a:r>
        </a:p>
      </dgm:t>
    </dgm:pt>
    <dgm:pt modelId="{CD3C5E69-0653-4F89-A3FE-B6D32BC0F2EF}" type="parTrans" cxnId="{74FEF09C-8C13-428A-9D0E-DA2764A5E3E1}">
      <dgm:prSet/>
      <dgm:spPr/>
    </dgm:pt>
    <dgm:pt modelId="{D4487009-54E9-477E-BDAA-CE9FFB64E8D8}" type="sibTrans" cxnId="{74FEF09C-8C13-428A-9D0E-DA2764A5E3E1}">
      <dgm:prSet/>
      <dgm:spPr/>
    </dgm:pt>
    <dgm:pt modelId="{7480B1FB-637B-41B9-A4A5-7DDD5C9779F3}" type="pres">
      <dgm:prSet presAssocID="{D23BE324-DA86-ED4B-A593-27E2A934B691}" presName="linear" presStyleCnt="0">
        <dgm:presLayoutVars>
          <dgm:animLvl val="lvl"/>
          <dgm:resizeHandles val="exact"/>
        </dgm:presLayoutVars>
      </dgm:prSet>
      <dgm:spPr/>
    </dgm:pt>
    <dgm:pt modelId="{88F6FD02-8E38-4BD8-8B8F-2A197DE03290}" type="pres">
      <dgm:prSet presAssocID="{CA404423-6AB9-EB4A-85D9-76B337FDB17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9B1834A-76AA-4F66-8685-6A93CCE7B44C}" type="pres">
      <dgm:prSet presAssocID="{CA404423-6AB9-EB4A-85D9-76B337FDB174}" presName="childText" presStyleLbl="revTx" presStyleIdx="0" presStyleCnt="3">
        <dgm:presLayoutVars>
          <dgm:bulletEnabled val="1"/>
        </dgm:presLayoutVars>
      </dgm:prSet>
      <dgm:spPr/>
    </dgm:pt>
    <dgm:pt modelId="{979A1137-DD5C-4499-98D5-FD77CC5D6E70}" type="pres">
      <dgm:prSet presAssocID="{DF8EF88C-8D84-8C43-B810-AFB4651BAA3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694D76B-F49D-49EA-8D56-84E096004EFB}" type="pres">
      <dgm:prSet presAssocID="{DF8EF88C-8D84-8C43-B810-AFB4651BAA39}" presName="childText" presStyleLbl="revTx" presStyleIdx="1" presStyleCnt="3">
        <dgm:presLayoutVars>
          <dgm:bulletEnabled val="1"/>
        </dgm:presLayoutVars>
      </dgm:prSet>
      <dgm:spPr/>
    </dgm:pt>
    <dgm:pt modelId="{CAFEA03E-15F0-4CAA-9EAC-857DA5C6E2C0}" type="pres">
      <dgm:prSet presAssocID="{770FE41B-0D6A-BE46-8DE9-86FE2A66589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FC10390-A201-40F2-A909-E903475E10CE}" type="pres">
      <dgm:prSet presAssocID="{770FE41B-0D6A-BE46-8DE9-86FE2A665892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4F1E1E04-C203-45FC-83AC-361039C707F8}" type="presOf" srcId="{770FE41B-0D6A-BE46-8DE9-86FE2A665892}" destId="{CAFEA03E-15F0-4CAA-9EAC-857DA5C6E2C0}" srcOrd="0" destOrd="0" presId="urn:microsoft.com/office/officeart/2005/8/layout/vList2"/>
    <dgm:cxn modelId="{829B5222-6AED-A54A-AE19-EB32E3669E38}" srcId="{DF8EF88C-8D84-8C43-B810-AFB4651BAA39}" destId="{0C2DECDD-0A85-9C48-9279-DE771DF08233}" srcOrd="1" destOrd="0" parTransId="{7764EC7D-F093-5B49-9AF0-7FACFB74B2BE}" sibTransId="{4343323C-71F6-BB4A-B543-569B7D0B8E56}"/>
    <dgm:cxn modelId="{2E7D1A23-2D86-444F-ABF1-1E1E7757C688}" type="presOf" srcId="{CA404423-6AB9-EB4A-85D9-76B337FDB174}" destId="{88F6FD02-8E38-4BD8-8B8F-2A197DE03290}" srcOrd="0" destOrd="0" presId="urn:microsoft.com/office/officeart/2005/8/layout/vList2"/>
    <dgm:cxn modelId="{7CF9623A-666F-6647-802A-A95493F8EBAC}" srcId="{CA404423-6AB9-EB4A-85D9-76B337FDB174}" destId="{9D8833F6-FFF2-0043-8E19-662F3ECC0C69}" srcOrd="2" destOrd="0" parTransId="{3B768F97-B4E7-2F4E-9C97-87DEA25921EC}" sibTransId="{94D34039-8F97-4244-BD50-B01B3B91FF83}"/>
    <dgm:cxn modelId="{EBD9BF48-6EF2-FC4F-9767-F5F9F3682BE3}" srcId="{CA404423-6AB9-EB4A-85D9-76B337FDB174}" destId="{49316F22-BDD9-D344-8DF7-6042A787739E}" srcOrd="0" destOrd="0" parTransId="{B0AB3EC3-0FBB-3B4A-B331-5C9FEEF4572D}" sibTransId="{A1F0993D-402E-E94A-83D8-125058334C98}"/>
    <dgm:cxn modelId="{DC9A8752-C01B-5A47-B511-EA531B99815E}" srcId="{DF8EF88C-8D84-8C43-B810-AFB4651BAA39}" destId="{90B5EB81-C31A-0E4D-847F-0FF7DA55B788}" srcOrd="0" destOrd="0" parTransId="{73B3EB71-008F-4542-BCD6-0C44942298C8}" sibTransId="{D7E515D4-956F-D843-9334-9C7B173CAC8C}"/>
    <dgm:cxn modelId="{887A5053-8A03-4314-8EE8-1A72E392CDFE}" type="presOf" srcId="{90B5EB81-C31A-0E4D-847F-0FF7DA55B788}" destId="{C694D76B-F49D-49EA-8D56-84E096004EFB}" srcOrd="0" destOrd="0" presId="urn:microsoft.com/office/officeart/2005/8/layout/vList2"/>
    <dgm:cxn modelId="{F6D4A153-C360-4287-86A5-6188A0758AE5}" type="presOf" srcId="{6CF8E079-9113-B341-949B-0C8FE1D54943}" destId="{C694D76B-F49D-49EA-8D56-84E096004EFB}" srcOrd="0" destOrd="3" presId="urn:microsoft.com/office/officeart/2005/8/layout/vList2"/>
    <dgm:cxn modelId="{8F3D9F74-F63D-C64B-A465-F7575AB5F59C}" srcId="{770FE41B-0D6A-BE46-8DE9-86FE2A665892}" destId="{300B7704-EB88-0641-811A-C749A83EA426}" srcOrd="0" destOrd="0" parTransId="{AABC2E9F-7452-C24F-B639-5D50CBED447C}" sibTransId="{0E6A06E8-568A-2C48-A7AD-2FDA807B86E2}"/>
    <dgm:cxn modelId="{1410B755-6ED9-E748-8BFB-77A5A3935B42}" srcId="{770FE41B-0D6A-BE46-8DE9-86FE2A665892}" destId="{F1E0DF61-5B75-6A44-B10A-18FC603A31B1}" srcOrd="1" destOrd="0" parTransId="{A70A8BE2-DCCA-CC41-A04A-99DC6522C741}" sibTransId="{58DE4856-0A2D-5C4B-A519-E9C0BCD26CDD}"/>
    <dgm:cxn modelId="{EF616C56-3C8C-964B-9057-3E238C0F0AAC}" srcId="{D23BE324-DA86-ED4B-A593-27E2A934B691}" destId="{DF8EF88C-8D84-8C43-B810-AFB4651BAA39}" srcOrd="1" destOrd="0" parTransId="{DEF28F56-1015-8A41-A6BA-78C83248F303}" sibTransId="{78B9242F-3EF8-2747-B1F7-03FF22C29C4C}"/>
    <dgm:cxn modelId="{387B7D78-C7C4-444B-B9AC-A3B1F7827C2E}" srcId="{D23BE324-DA86-ED4B-A593-27E2A934B691}" destId="{CA404423-6AB9-EB4A-85D9-76B337FDB174}" srcOrd="0" destOrd="0" parTransId="{87E0A1A0-3D6C-E44A-A686-A38CE1113DBF}" sibTransId="{FE595A42-11C2-5545-9CAC-BEFD7802AE55}"/>
    <dgm:cxn modelId="{29AEF786-463E-A14E-A0A0-C5390116F01B}" srcId="{DF8EF88C-8D84-8C43-B810-AFB4651BAA39}" destId="{5CC91DBC-94A1-3243-BEC9-77629274AACC}" srcOrd="2" destOrd="0" parTransId="{9A103E3D-8B8B-C740-A2C5-157681EBE064}" sibTransId="{0176042C-95E5-A140-AA3A-0A69EA4BB932}"/>
    <dgm:cxn modelId="{480F4E87-8507-814B-A575-458F5CE9CAFD}" srcId="{D23BE324-DA86-ED4B-A593-27E2A934B691}" destId="{770FE41B-0D6A-BE46-8DE9-86FE2A665892}" srcOrd="2" destOrd="0" parTransId="{6355C11E-EB04-F340-BF3E-8BF03EE0722F}" sibTransId="{3CDBA012-2FB2-4447-813E-6E60F77BCDA8}"/>
    <dgm:cxn modelId="{09F5E28F-8377-4B14-9736-751232A5660C}" type="presOf" srcId="{300B7704-EB88-0641-811A-C749A83EA426}" destId="{EFC10390-A201-40F2-A909-E903475E10CE}" srcOrd="0" destOrd="0" presId="urn:microsoft.com/office/officeart/2005/8/layout/vList2"/>
    <dgm:cxn modelId="{AB964E93-F717-45B6-BB34-B5BB74936970}" type="presOf" srcId="{F1E0DF61-5B75-6A44-B10A-18FC603A31B1}" destId="{EFC10390-A201-40F2-A909-E903475E10CE}" srcOrd="0" destOrd="1" presId="urn:microsoft.com/office/officeart/2005/8/layout/vList2"/>
    <dgm:cxn modelId="{C338AD96-B6B3-2847-8FC3-E0A1DC3B58F8}" srcId="{770FE41B-0D6A-BE46-8DE9-86FE2A665892}" destId="{58F3BE6D-D555-5045-A6D7-6E7040258DBA}" srcOrd="2" destOrd="0" parTransId="{819336ED-ACC3-744E-ADDB-9033BDDCF9AB}" sibTransId="{BC224F86-9FC0-ED46-8347-22166A83EB87}"/>
    <dgm:cxn modelId="{74FEF09C-8C13-428A-9D0E-DA2764A5E3E1}" srcId="{CA404423-6AB9-EB4A-85D9-76B337FDB174}" destId="{D3EA4055-C61C-4A03-A43C-9CF14C441770}" srcOrd="1" destOrd="0" parTransId="{CD3C5E69-0653-4F89-A3FE-B6D32BC0F2EF}" sibTransId="{D4487009-54E9-477E-BDAA-CE9FFB64E8D8}"/>
    <dgm:cxn modelId="{050FDBB7-3540-4753-90B0-7CDB6B598491}" type="presOf" srcId="{DF8EF88C-8D84-8C43-B810-AFB4651BAA39}" destId="{979A1137-DD5C-4499-98D5-FD77CC5D6E70}" srcOrd="0" destOrd="0" presId="urn:microsoft.com/office/officeart/2005/8/layout/vList2"/>
    <dgm:cxn modelId="{107BD4BB-EE41-8846-BB28-31BC5309E10B}" srcId="{DF8EF88C-8D84-8C43-B810-AFB4651BAA39}" destId="{6CF8E079-9113-B341-949B-0C8FE1D54943}" srcOrd="3" destOrd="0" parTransId="{812DAFDD-DC6D-0B46-9650-4CDE2DDDB542}" sibTransId="{05CA5228-BB03-DB49-AF01-BB0808759185}"/>
    <dgm:cxn modelId="{AA4D8CD0-E2D3-428B-A683-DE7896FA1BF9}" type="presOf" srcId="{D23BE324-DA86-ED4B-A593-27E2A934B691}" destId="{7480B1FB-637B-41B9-A4A5-7DDD5C9779F3}" srcOrd="0" destOrd="0" presId="urn:microsoft.com/office/officeart/2005/8/layout/vList2"/>
    <dgm:cxn modelId="{36241DD7-D69B-4998-B508-FF9EDA28A044}" type="presOf" srcId="{D3EA4055-C61C-4A03-A43C-9CF14C441770}" destId="{19B1834A-76AA-4F66-8685-6A93CCE7B44C}" srcOrd="0" destOrd="1" presId="urn:microsoft.com/office/officeart/2005/8/layout/vList2"/>
    <dgm:cxn modelId="{DD6DBCE1-EED9-4AB4-B1B7-CB8D57A18450}" type="presOf" srcId="{49316F22-BDD9-D344-8DF7-6042A787739E}" destId="{19B1834A-76AA-4F66-8685-6A93CCE7B44C}" srcOrd="0" destOrd="0" presId="urn:microsoft.com/office/officeart/2005/8/layout/vList2"/>
    <dgm:cxn modelId="{7D0AB4F1-3A3A-4784-9E8F-1454D98E6E1A}" type="presOf" srcId="{9D8833F6-FFF2-0043-8E19-662F3ECC0C69}" destId="{19B1834A-76AA-4F66-8685-6A93CCE7B44C}" srcOrd="0" destOrd="2" presId="urn:microsoft.com/office/officeart/2005/8/layout/vList2"/>
    <dgm:cxn modelId="{57067EF2-01B9-4B4A-A575-2C1462C47313}" type="presOf" srcId="{5CC91DBC-94A1-3243-BEC9-77629274AACC}" destId="{C694D76B-F49D-49EA-8D56-84E096004EFB}" srcOrd="0" destOrd="2" presId="urn:microsoft.com/office/officeart/2005/8/layout/vList2"/>
    <dgm:cxn modelId="{1C2362FA-4011-4C0B-AA31-89C1A181B6D7}" type="presOf" srcId="{58F3BE6D-D555-5045-A6D7-6E7040258DBA}" destId="{EFC10390-A201-40F2-A909-E903475E10CE}" srcOrd="0" destOrd="2" presId="urn:microsoft.com/office/officeart/2005/8/layout/vList2"/>
    <dgm:cxn modelId="{A3B01CFE-8E3F-42F4-856E-082FD8FF9A9F}" type="presOf" srcId="{0C2DECDD-0A85-9C48-9279-DE771DF08233}" destId="{C694D76B-F49D-49EA-8D56-84E096004EFB}" srcOrd="0" destOrd="1" presId="urn:microsoft.com/office/officeart/2005/8/layout/vList2"/>
    <dgm:cxn modelId="{A0077C48-F9CB-4D47-96E3-33B30F71191D}" type="presParOf" srcId="{7480B1FB-637B-41B9-A4A5-7DDD5C9779F3}" destId="{88F6FD02-8E38-4BD8-8B8F-2A197DE03290}" srcOrd="0" destOrd="0" presId="urn:microsoft.com/office/officeart/2005/8/layout/vList2"/>
    <dgm:cxn modelId="{DF82A12B-D640-4471-83E2-09A3F2C34EA1}" type="presParOf" srcId="{7480B1FB-637B-41B9-A4A5-7DDD5C9779F3}" destId="{19B1834A-76AA-4F66-8685-6A93CCE7B44C}" srcOrd="1" destOrd="0" presId="urn:microsoft.com/office/officeart/2005/8/layout/vList2"/>
    <dgm:cxn modelId="{D89E4E78-EB50-4D99-9CEB-514121FA76F8}" type="presParOf" srcId="{7480B1FB-637B-41B9-A4A5-7DDD5C9779F3}" destId="{979A1137-DD5C-4499-98D5-FD77CC5D6E70}" srcOrd="2" destOrd="0" presId="urn:microsoft.com/office/officeart/2005/8/layout/vList2"/>
    <dgm:cxn modelId="{F4D189CA-780D-4806-8752-3B4447C4336D}" type="presParOf" srcId="{7480B1FB-637B-41B9-A4A5-7DDD5C9779F3}" destId="{C694D76B-F49D-49EA-8D56-84E096004EFB}" srcOrd="3" destOrd="0" presId="urn:microsoft.com/office/officeart/2005/8/layout/vList2"/>
    <dgm:cxn modelId="{530C914D-EB41-48F5-A8D4-D01EE8DB627E}" type="presParOf" srcId="{7480B1FB-637B-41B9-A4A5-7DDD5C9779F3}" destId="{CAFEA03E-15F0-4CAA-9EAC-857DA5C6E2C0}" srcOrd="4" destOrd="0" presId="urn:microsoft.com/office/officeart/2005/8/layout/vList2"/>
    <dgm:cxn modelId="{170DB8BE-FDCA-4FA3-AAFB-397F0A7F0785}" type="presParOf" srcId="{7480B1FB-637B-41B9-A4A5-7DDD5C9779F3}" destId="{EFC10390-A201-40F2-A909-E903475E10CE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F6FD02-8E38-4BD8-8B8F-2A197DE03290}">
      <dsp:nvSpPr>
        <dsp:cNvPr id="0" name=""/>
        <dsp:cNvSpPr/>
      </dsp:nvSpPr>
      <dsp:spPr>
        <a:xfrm>
          <a:off x="0" y="22729"/>
          <a:ext cx="9144000" cy="7300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EPROM</a:t>
          </a:r>
        </a:p>
      </dsp:txBody>
      <dsp:txXfrm>
        <a:off x="35640" y="58369"/>
        <a:ext cx="9072720" cy="658800"/>
      </dsp:txXfrm>
    </dsp:sp>
    <dsp:sp modelId="{19B1834A-76AA-4F66-8685-6A93CCE7B44C}">
      <dsp:nvSpPr>
        <dsp:cNvPr id="0" name=""/>
        <dsp:cNvSpPr/>
      </dsp:nvSpPr>
      <dsp:spPr>
        <a:xfrm>
          <a:off x="0" y="752809"/>
          <a:ext cx="9144000" cy="1130220"/>
        </a:xfrm>
        <a:prstGeom prst="rect">
          <a:avLst/>
        </a:prstGeom>
        <a:noFill/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0322" tIns="22860" rIns="128016" bIns="2286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Erasable programmable read-only memory – erase all cells before re-writing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Erasure process can be performed repeatedly using ultraviolet radiation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More expensive than PROM but it has the advantage of the multiple update capability </a:t>
          </a:r>
        </a:p>
      </dsp:txBody>
      <dsp:txXfrm>
        <a:off x="0" y="752809"/>
        <a:ext cx="9144000" cy="1130220"/>
      </dsp:txXfrm>
    </dsp:sp>
    <dsp:sp modelId="{979A1137-DD5C-4499-98D5-FD77CC5D6E70}">
      <dsp:nvSpPr>
        <dsp:cNvPr id="0" name=""/>
        <dsp:cNvSpPr/>
      </dsp:nvSpPr>
      <dsp:spPr>
        <a:xfrm>
          <a:off x="0" y="1883029"/>
          <a:ext cx="9144000" cy="7300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EEPROM</a:t>
          </a:r>
        </a:p>
      </dsp:txBody>
      <dsp:txXfrm>
        <a:off x="35640" y="1918669"/>
        <a:ext cx="9072720" cy="658800"/>
      </dsp:txXfrm>
    </dsp:sp>
    <dsp:sp modelId="{C694D76B-F49D-49EA-8D56-84E096004EFB}">
      <dsp:nvSpPr>
        <dsp:cNvPr id="0" name=""/>
        <dsp:cNvSpPr/>
      </dsp:nvSpPr>
      <dsp:spPr>
        <a:xfrm>
          <a:off x="0" y="2613110"/>
          <a:ext cx="9144000" cy="1453140"/>
        </a:xfrm>
        <a:prstGeom prst="rect">
          <a:avLst/>
        </a:prstGeom>
        <a:noFill/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0322" tIns="22860" rIns="128016" bIns="2286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Electrically erasable programmable read-only memory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Can be written into at any time without erasing prior contents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Combines the advantage of non-volatility with the flexibility of being updatable in place, only addressed bytes are updated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More expensive than EPROM </a:t>
          </a:r>
        </a:p>
      </dsp:txBody>
      <dsp:txXfrm>
        <a:off x="0" y="2613110"/>
        <a:ext cx="9144000" cy="1453140"/>
      </dsp:txXfrm>
    </dsp:sp>
    <dsp:sp modelId="{CAFEA03E-15F0-4CAA-9EAC-857DA5C6E2C0}">
      <dsp:nvSpPr>
        <dsp:cNvPr id="0" name=""/>
        <dsp:cNvSpPr/>
      </dsp:nvSpPr>
      <dsp:spPr>
        <a:xfrm>
          <a:off x="0" y="4066250"/>
          <a:ext cx="9144000" cy="7300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Flash Memory</a:t>
          </a:r>
        </a:p>
      </dsp:txBody>
      <dsp:txXfrm>
        <a:off x="35640" y="4101890"/>
        <a:ext cx="9072720" cy="658800"/>
      </dsp:txXfrm>
    </dsp:sp>
    <dsp:sp modelId="{EFC10390-A201-40F2-A909-E903475E10CE}">
      <dsp:nvSpPr>
        <dsp:cNvPr id="0" name=""/>
        <dsp:cNvSpPr/>
      </dsp:nvSpPr>
      <dsp:spPr>
        <a:xfrm>
          <a:off x="0" y="4796330"/>
          <a:ext cx="9144000" cy="1130220"/>
        </a:xfrm>
        <a:prstGeom prst="rect">
          <a:avLst/>
        </a:prstGeom>
        <a:noFill/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0322" tIns="22860" rIns="128016" bIns="2286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Intermediate between EPROM and EEPROM in both cost and functionality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Uses an electrical erasing technology, does not provide byte-level erasure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rPr>
            <a:t>Microchip is organized so that a section of memory cells are erased in a single action or “flash”</a:t>
          </a:r>
        </a:p>
      </dsp:txBody>
      <dsp:txXfrm>
        <a:off x="0" y="4796330"/>
        <a:ext cx="9144000" cy="11302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84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dirty="0"/>
              <a:t>© 2016 Pearson Education, Inc., Hoboken, NJ. All rights reserved.</a:t>
            </a:r>
          </a:p>
        </p:txBody>
      </p:sp>
      <p:sp>
        <p:nvSpPr>
          <p:cNvPr id="84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51972E4-2FB1-5545-A774-664D41C1D4E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9509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839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39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39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dirty="0"/>
              <a:t>© 2016 Pearson Education, Inc., Hoboken, NJ. All rights reserved.</a:t>
            </a:r>
          </a:p>
        </p:txBody>
      </p:sp>
      <p:sp>
        <p:nvSpPr>
          <p:cNvPr id="839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AF100D4-BB46-6748-84D4-F681254872A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881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1486A-64A2-174A-9561-2035EFB54CD6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222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pitchFamily="-110" charset="0"/>
              </a:rPr>
              <a:t>Lecture slides prepared for “Computer Organization</a:t>
            </a:r>
            <a:r>
              <a:rPr lang="en-US" baseline="0" dirty="0">
                <a:latin typeface="Times New Roman" pitchFamily="-110" charset="0"/>
              </a:rPr>
              <a:t> and Architecture</a:t>
            </a:r>
            <a:r>
              <a:rPr lang="en-US" dirty="0">
                <a:latin typeface="Times New Roman" pitchFamily="-110" charset="0"/>
              </a:rPr>
              <a:t>”, 10/e, by William Stallings, Chapter 6 “Internal</a:t>
            </a:r>
            <a:r>
              <a:rPr lang="en-US" baseline="0" dirty="0">
                <a:latin typeface="Times New Roman" pitchFamily="-110" charset="0"/>
              </a:rPr>
              <a:t> Memory</a:t>
            </a:r>
            <a:r>
              <a:rPr lang="en-US" dirty="0">
                <a:latin typeface="Times New Roman" pitchFamily="-110" charset="0"/>
              </a:rPr>
              <a:t>”.</a:t>
            </a:r>
            <a:endParaRPr lang="en-AU" dirty="0">
              <a:latin typeface="Times New Roman" pitchFamily="-110" charset="0"/>
            </a:endParaRPr>
          </a:p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We begin this chapter with a survey of semiconductor main memory subsystems,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including ROM, DRAM, and SRAM memories. Then we look at error control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techniques used to enhance memory reliability. Following this, we look at more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advanced DRAM architectures.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F3FAD-0CAC-0AD7-BEBE-0C47F22A2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FF072-9FCC-2C49-5CA5-0C1EE3549F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B99BE-310A-C2E7-09AD-20AE370FF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FCE99-3F7B-0DEB-1060-388AFE8CED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3CA2A-AEA7-739C-B7CA-BBDB82125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76388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earlier computers, the most common form of random-access storage for computer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main memory employed an array of doughnut-shaped ferromagnetic loops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referred to as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cores.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Hence, main memory was often referred to as core, a term that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persists to this day. The advent of, and advantages of, microelectronics has long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since vanquished the magnetic core memory. Today, the use of semiconductor chips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main memory is almost universal. Key aspects of this technology are explored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this section.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basic element of a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semiconductor memory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the memory cell. Although a variety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electronic technologies are used, all semiconductor memory cells share certain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properties: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They exhibit two stable (or </a:t>
            </a:r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semistable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) states, which can be used to represent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binary 1 and 0.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They are capable of being written into (at least once), to set the state.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They are capable of being read to sense the state.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5.1 depicts the operation of a memory cell. Most commonly, the cell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has three functional terminals capable of carrying an electrical signal. The select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terminal, as the name suggests, selects a memory cell for a read or write operation.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control terminal indicates read or write. For writing, the other terminal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provides an electrical signal that sets the state of the cell to 1 or 0. For reading, that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terminal is used for output of the cell’s state. The details of the internal organization,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functioning, and timing of the memory cell depend on the specific integrated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circuit technology used and are beyond the scope of this book, except for a brief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summary. For our purposes, we will take it as given that individual cells can be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selected for reading and writing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B46E6C-3927-A64A-B47C-D19DF1F3234B}" type="slidenum">
              <a:rPr lang="en-US"/>
              <a:pPr/>
              <a:t>8</a:t>
            </a:fld>
            <a:endParaRPr lang="en-US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RAM technology is divided into two technologies: dynamic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static. A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dynamic RAM (DRAM)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made with cells that store data as charge 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capacitors. The presence or absence of charge in a capacitor is interpreted as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binary 1 or 0. Because capacitors have a natural tendency to discharge, dynamic</a:t>
            </a:r>
          </a:p>
          <a:p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RAMs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require periodic charge refreshing to maintain data storage. The term</a:t>
            </a:r>
          </a:p>
          <a:p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dynamic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refers to this tendency of the stored charge to leak away, even with power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continuously applied.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B46E6C-3927-A64A-B47C-D19DF1F3234B}" type="slidenum">
              <a:rPr lang="en-US"/>
              <a:pPr/>
              <a:t>9</a:t>
            </a:fld>
            <a:endParaRPr lang="en-US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RAM technology is divided into two technologies: dynamic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static. A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dynamic RAM (DRAM)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made with cells that store data as charge 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capacitors. The presence or absence of charge in a capacitor is interpreted as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binary 1 or 0. Because capacitors have a natural tendency to discharge, dynamic</a:t>
            </a:r>
          </a:p>
          <a:p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RAMs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require periodic charge refreshing to maintain data storage. The term</a:t>
            </a:r>
          </a:p>
          <a:p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dynamic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refers to this tendency of the stored charge to leak away, even with power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continuously applied.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5.2a is a typical DRAM structure for an individual cell that stores 1 bit.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address line is activated when the bit value from this cell is to be read or written.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transistor acts as a switch that is closed (allowing current to flow) if a voltage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applied to the address line and open (no current flows) if no voltage is present 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address line.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the write operation, a voltage signal is applied to the bit line; a high voltage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represents 1, and a low voltage represents 0. A signal is then applied to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line, allowing a charge to be transferred to the capacitor.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the read operation, when the address line is selected, the transistor turns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and the charge stored on the capacitor is fed out onto a bit line and to a sense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amplifier. The sense amplifier compares the capacitor voltage to a reference value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determines if the cell contains a logic 1 or a logic 0. The readout from the cell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discharges the capacitor, which must be restored to complete the operation.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Although the DRAM cell is used to store a single bit (0 or 1), it is essentially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analog device. The capacitor can store any charge value within a range; a threshold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value determines whether the charge is interpreted as 1 or 0.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5.2b is a typical SRAM structure for an individual cell. Four transistors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(T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, T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, T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3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, T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) are cross connected in an arrangement that produces a stable logic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state. In logic state 1, point C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is high and point C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is low; in this state, T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and T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are off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and T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3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are on. In logic state 0, point C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is low and point C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is high; in this state,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and T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are on and T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and T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3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are off. Both states are stable as long as the direct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current (dc) voltage is applied. Unlike the DRAM, no refresh is needed to retain data.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in the DRAM, the SRAM address line is used to open or close a switch.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address line controls two transistors (T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5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and T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6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). When a signal is applied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line, the two transistors are switched on, allowing a read or write operation. For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write operation, the desired bit value is applied to line B, while its complement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applied to line B. This forces the four transistors (T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, T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, T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3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, T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) into the proper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state. For a read operation, the bit value is read from line B.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Both static and dynamic </a:t>
            </a:r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RAMs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are volatile; that is,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power must be continuously supplied to the memory to preserve the bit values.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dynamic memory cell is simpler and smaller than a static memory cell. Thus,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DRAM is more dense (smaller cells = more cells per unit area) and less expensive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than a corresponding SRAM. On the other hand, a DRAM requires the supporting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refresh circuitry. For larger memories, the fixed cost of the refresh circuitry is more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than compensated for by the smaller variable cost of DRAM cells. Thus, </a:t>
            </a:r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DRAMs</a:t>
            </a:r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tend to be favored for large memory requirements. A final point is that </a:t>
            </a:r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SRAMs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are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somewhat faster than </a:t>
            </a:r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DRAMs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. Because of these relative characteristics, SRAM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used for cache memory (both on and off chip), and DRAM is used for main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488C55-A478-E147-A620-DAE8B070FDAB}" type="slidenum">
              <a:rPr lang="en-US"/>
              <a:pPr/>
              <a:t>12</a:t>
            </a:fld>
            <a:endParaRPr lang="en-US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the name suggests, a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read-only memory (ROM)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contains a permanent pattern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data that cannot be changed. A ROM is nonvolatile; that is, no power source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required to maintain the bit values in memory. While it is possible to read a ROM,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 is not possible to write new data into it. An important application of ROMs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microprogramming, discussed in Part Four. Other potential applications include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Library subroutines for frequently wanted functions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System programs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Function tables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a modest-sized requirement, the advantage of ROM is that the data or program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permanently in main memory and need never be loaded from a secondary storage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ROM is created like any other integrated circuit chip, with the data actually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wired into the chip as part of the fabrication process. This presents two problems: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 data insertion step includes a relatively large fixed cost, whether one 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thousands of copies of a particular ROM are fabricated.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There is no room for error. If one bit is wrong, the whole batch of ROMs must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thrown out.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When only a small number of ROMs with a particular memory content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needed, a less expensive alternative is the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programmable ROM (PROM).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Like the</a:t>
            </a: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ROM, the PROM is nonvolatile and may be written into only once. For the PROM,</a:t>
            </a: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writing process is performed electrically and may be performed by a supplier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or customer at a time later than the original chip fabrication. Special equipment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required for the writing or “programming” process. </a:t>
            </a:r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PROMs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provide flexibility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convenience. The ROM remains attractive for high-volume production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Another variation on read-only memory is the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read-mostly memory,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which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useful for applications in which read operations are far more frequent than write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operations but for which nonvolatile storage is required. There are three common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forms of read-mostly memory: EPROM, EEPROM, and flash memory.</a:t>
            </a:r>
          </a:p>
          <a:p>
            <a:endParaRPr lang="en-US" dirty="0"/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optically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erasable programmable read-only memory (EPROM)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read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written electrically, as with PROM. However, before a write operation, all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storage cells must be erased to the same initial state by exposure of the packaged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chip to ultraviolet radiation. Erasure is performed by shining an intense ultraviolet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light through a window that is designed into the memory chip. This erasure process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can be performed repeatedly; each erasure can take as much as 20 minutes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perform. Thus, the EPROM can be altered multiple times and, like the ROM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PROM, holds its data virtually indefinitely. For comparable amounts of storage,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EPROM is more expensive than PROM, but it has the advantage of the multiple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update capability.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more attractive form of read-mostly memory is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electrically erasable programmable</a:t>
            </a: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read-only memory (EEPROM).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is a read-mostly memory that can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written into at any time without erasing prior contents; only the byte or bytes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addressed are updated. The write operation takes considerably longer than the read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operation, on the order of several hundred microseconds per byte. The EEPROM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combines the advantage of non-volatility with the flexibility of being updatable in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place, using ordinary bus control, address, and data lines. EEPROM is more expensive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than EPROM and also is less dense, supporting fewer bits per chip.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Another form of semiconductor memory is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flash memory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(so named because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speed with which it can be reprogrammed). First introduced in the mid-1980s,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flash memory is intermediate between EPROM and EEPROM in both cost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functionality. Like EEPROM, flash memory uses an electrical erasing technology.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entire flash memory can be erased in one or a few seconds, which is much faster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than EPROM. In addition, it is possible to erase just blocks of memory rather than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entire chip. Flash memory gets its name because the microchip is organized so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a section of memory cells are erased in a single action or “flash.” However,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flash memory does not provide byte-level erasure. Like EPROM, flash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uses only one transistor per bit, and so achieves the high density (compared with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EEPROM) of EPROM.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F20D5B-2603-014D-A0DF-7C73F10603F1}" type="slidenum">
              <a:rPr lang="en-US"/>
              <a:pPr/>
              <a:t>17</a:t>
            </a:fld>
            <a:endParaRPr lang="en-US"/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6.3 shows a typical organization of a 16-Mbit DRAM. In this case, 4 bits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are read or written at a time. Logically, the memory array is organized as four square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arrays of 2048 by 2048 elements. Various physical arrangements are possible. In any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case, the elements of the array are connected by both horizontal (row) and vertical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(column) lines. Each horizontal line connects to the Select terminal of each cell in its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row; each vertical line connects to the Data-In/Sense terminal of each cell in its column.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lines supply the address of the word to be selected. A total of log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lines are needed. In our example, 11 address lines are needed to select one of 2048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rows. These 11 lines are fed into a row decoder, which has 11 lines of input and 2048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lines for output. The logic of the decoder activates a single one of the 2048 outputs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depending on the bit pattern on the 11 input lines (2</a:t>
            </a:r>
            <a:r>
              <a:rPr kumimoji="1" lang="en-US" sz="1200" kern="1200" baseline="30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11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= 2048).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additional 11 address lines select one of 2048 columns of 4 bits per column.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Four data lines are used for the input and output of 4 bits to and from a data buffer.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input (write), the bit driver of each bit line is activated for a 1 or 0 according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value of the corresponding data line. On output (read), the value of each bit line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passed through a sense amplifier and presented to the data lines. The row line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selects which row of cells is used for reading or writing.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only 4 bits are read/written to this DRAM, there must be multiple</a:t>
            </a:r>
          </a:p>
          <a:p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DRAMs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connected to the memory controller to read/write a word of data to the bus.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Note that there are only 11 address lines (A0–A10), half the number you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would expect for a 2048 * 2048 array. This is done to save on the number of pins.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22 required address lines are passed through select logic external to the chip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multiplexed onto the 11 address lines. First, 11 address signals are passed to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chip to define the row address of the array, and then the other 11 address signals are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presented for the column address. 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an aside, multiplexed addressing plus the use of square arrays result in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quadrupling of memory size with each new generation of memory chips. One more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pin devoted to addressing doubles the number of rows and columns, and so the size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chip memory grows by a factor of 4.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5.3 also indicates the inclusion of refresh circuitry. All </a:t>
            </a:r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DRAMs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require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refresh operation. A simple technique for refreshing is, in effect, to disable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DRAM chip while all data cells are refreshed. The refresh counter steps through all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row values. For each row, the output lines from the refresh counter are supplied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the row decoder and the RAS line is activated. The data are read out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written back into the same location. This causes each cell in the row to be refreshed.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F20D5B-2603-014D-A0DF-7C73F10603F1}" type="slidenum">
              <a:rPr lang="en-US"/>
              <a:pPr/>
              <a:t>18</a:t>
            </a:fld>
            <a:endParaRPr lang="en-US"/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6.3 shows a typical organization of a 16-Mbit DRAM. In this case, 4 bits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are read or written at a time. Logically, the memory array is organized as four square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arrays of 2048 by 2048 elements. Various physical arrangements are possible. In any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case, the elements of the array are connected by both horizontal (row) and vertical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(column) lines. Each horizontal line connects to the Select terminal of each cell in its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row; each vertical line connects to the Data-In/Sense terminal of each cell in its column.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lines supply the address of the word to be selected. A total of log</a:t>
            </a:r>
            <a:r>
              <a:rPr kumimoji="1" lang="en-US" sz="1200" kern="1200" baseline="-25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lines are needed. In our example, 11 address lines are needed to select one of 2048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rows. These 11 lines are fed into a row decoder, which has 11 lines of input and 2048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lines for output. The logic of the decoder activates a single one of the 2048 outputs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depending on the bit pattern on the 11 input lines (2</a:t>
            </a:r>
            <a:r>
              <a:rPr kumimoji="1" lang="en-US" sz="1200" kern="1200" baseline="30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11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= 2048).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additional 11 address lines select one of 2048 columns of 4 bits per column.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Four data lines are used for the input and output of 4 bits to and from a data buffer.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input (write), the bit driver of each bit line is activated for a 1 or 0 according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value of the corresponding data line. On output (read), the value of each bit line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passed through a sense amplifier and presented to the data lines. The row line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selects which row of cells is used for reading or writing.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only 4 bits are read/written to this DRAM, there must be multiple</a:t>
            </a:r>
          </a:p>
          <a:p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DRAMs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connected to the memory controller to read/write a word of data to the bus.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Note that there are only 11 address lines (A0–A10), half the number you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would expect for a 2048 * 2048 array. This is done to save on the number of pins.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22 required address lines are passed through select logic external to the chip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multiplexed onto the 11 address lines. First, 11 address signals are passed to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chip to define the row address of the array, and then the other 11 address signals are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presented for the column address. 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an aside, multiplexed addressing plus the use of square arrays result in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quadrupling of memory size with each new generation of memory chips. One more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pin devoted to addressing doubles the number of rows and columns, and so the size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chip memory grows by a factor of 4.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5.3 also indicates the inclusion of refresh circuitry. All </a:t>
            </a:r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DRAMs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require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refresh operation. A simple technique for refreshing is, in effect, to disable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DRAM chip while all data cells are refreshed. The refresh counter steps through all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row values. For each row, the output lines from the refresh counter are supplied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the row decoder and the RAS line is activated. The data are read out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written back into the same location. This causes each cell in the row to be refreshed.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B656AF-DF11-D240-8C81-862191AED02B}" type="slidenum">
              <a:rPr lang="en-US"/>
              <a:pPr/>
              <a:t>19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was mentioned in Chapter 2, an integrated circuit is mounted on a package that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contains pins for connection to the outside world.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5.4a shows an example EPROM package, which is an 8-Mbit chip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organized as 1M * 8. In this case, the organization is treated as a one-word-per-chip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package. The package includes 32 pins, which is one of the standard chip package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sizes. The pins support the following signal lines: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 address of the word being accessed. For 1M words, a total of 20 (2</a:t>
            </a:r>
            <a:r>
              <a:rPr kumimoji="1" lang="en-US" sz="1200" kern="1200" baseline="30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20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= 1M)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pins are needed (A0–A19).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 data to be read out, consisting of 8 lines (D0–D7).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 power supply to the chip (</a:t>
            </a:r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</a:t>
            </a:r>
            <a:r>
              <a:rPr kumimoji="1" lang="en-US" sz="1200" kern="1200" baseline="-2500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cc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).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A ground pin (</a:t>
            </a:r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</a:t>
            </a:r>
            <a:r>
              <a:rPr kumimoji="1" lang="en-US" sz="1200" kern="1200" baseline="-2500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ss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).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A chip enable (CE) pin. Because there may be more than one memory chip,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each of which is connected to the same address bus, the CE pin is used to indicate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whether or not the address is valid for this chip. The CE pin is activated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by logic connected to the higher-order bits of the address bus (i.e., address bits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above A19). The use of this signal is illustrated presently.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A program voltage (</a:t>
            </a:r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</a:t>
            </a:r>
            <a:r>
              <a:rPr kumimoji="1" lang="en-US" sz="1200" kern="1200" baseline="-2500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pp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) that is supplied during programming (write operations).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typical DRAM pin configuration is shown in Figure 5.4b, for a 16-Mbit chip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organized as 4M * 4. There are several differences from a ROM chip. Because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RAM can be updated, the data pins are input/output. The write enable (WE)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output enable (OE) pins indicate whether this is a write or read operation.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the DRAM is accessed by row and column, and the address is multiplexed,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only 11 address pins are needed to specify the 4M row/column combinations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(2</a:t>
            </a:r>
            <a:r>
              <a:rPr kumimoji="1" lang="en-US" sz="1200" kern="1200" baseline="30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11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* 2</a:t>
            </a:r>
            <a:r>
              <a:rPr kumimoji="1" lang="en-US" sz="1200" kern="1200" baseline="30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11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= 2</a:t>
            </a:r>
            <a:r>
              <a:rPr kumimoji="1" lang="en-US" sz="1200" kern="1200" baseline="30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22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= 4M). The functions of the row address select (RAS) and column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select (CAS) pins were discussed previously. Finally, the no connect (NC)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pin is provided so that there are an even number of pins.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948958-CF18-6C41-9FD9-749F2334E737}" type="slidenum">
              <a:rPr lang="en-US"/>
              <a:pPr/>
              <a:t>21</a:t>
            </a:fld>
            <a:endParaRPr lang="en-US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If a RAM chip contains only 1 bit per word, then clearly we will need at least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number of chips equal to the number of bits per word. As an example, Figure 5.5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shows how a memory module consisting of 256K 8-bit words could be organized. For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256K words, an 18-bit address is needed and is supplied to the module from some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external source (e.g., the address lines of a bus to which the module is attached).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address is presented to 8 256K * 1-bit chips, each of which provides the input/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output of 1 bit.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948958-CF18-6C41-9FD9-749F2334E737}" type="slidenum">
              <a:rPr lang="en-US"/>
              <a:pPr/>
              <a:t>22</a:t>
            </a:fld>
            <a:endParaRPr lang="en-US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If a RAM chip contains only 1 bit per word, then clearly we will need at least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number of chips equal to the number of bits per word. As an example, Figure 5.5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shows how a memory module consisting of 256K 8-bit words could be organized. For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256K words, an 18-bit address is needed and is supplied to the module from some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external source (e.g., the address lines of a bus to which the module is attached).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address is presented to 8 256K * 1-bit chips, each of which provides the input/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output of 1 bit.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Main memory is composed of a collection of DRAM memory chips. A number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chips can be grouped together to form a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bank.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 is possible to organize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memory banks in a way known as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interleaved memory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. Each bank is independently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able to service a memory read or write request, so that a system with</a:t>
            </a:r>
          </a:p>
          <a:p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K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banks can service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K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requests simultaneously, increasing memory read or write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rates by a factor of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K.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If consecutive words of memory are stored in different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banks, then the transfer of a block of memory is speeded up. Appendix G explores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topic of interleaved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F100D4-BB46-6748-84D4-F681254872AC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6F81B-52FE-36CC-E798-DEE907932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F8F7CC-1D58-5B3A-3D6A-00A18B3C4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73DE79-0762-D8F8-A6D5-6FBC0BAA6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5ED45-C228-1039-FCEC-D0D24054D4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61681-95B4-95D2-0FB6-A151462C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66728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 dirty="0"/>
              <a:t>© 2016 Pearson Education, Inc., Hoboken, NJ. All rights reserved.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William Stallings </a:t>
            </a:r>
            <a:br>
              <a:rPr lang="en-GB" dirty="0"/>
            </a:br>
            <a:r>
              <a:rPr lang="en-GB" dirty="0"/>
              <a:t>Computer Organization </a:t>
            </a:r>
            <a:br>
              <a:rPr lang="en-GB" dirty="0"/>
            </a:br>
            <a:r>
              <a:rPr lang="en-GB" dirty="0"/>
              <a:t>and Architecture</a:t>
            </a:r>
            <a:br>
              <a:rPr lang="en-GB" dirty="0"/>
            </a:br>
            <a:r>
              <a:rPr lang="en-GB" dirty="0"/>
              <a:t>10</a:t>
            </a:r>
            <a:r>
              <a:rPr lang="en-GB" baseline="30000" dirty="0"/>
              <a:t>th</a:t>
            </a:r>
            <a:r>
              <a:rPr lang="en-GB" dirty="0"/>
              <a:t> Edition</a:t>
            </a:r>
          </a:p>
        </p:txBody>
      </p:sp>
      <p:pic>
        <p:nvPicPr>
          <p:cNvPr id="3" name="Picture 2" descr="Snapshot 2012-06-08 00-57-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3649579" cy="2667000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3000"/>
              </a:schemeClr>
            </a:outerShdw>
            <a:reflection stA="50000" endPos="75000" dist="12700" dir="5400000" sy="-100000" algn="bl" rotWithShape="0"/>
            <a:softEdge rad="88900"/>
          </a:effectLst>
        </p:spPr>
      </p:pic>
      <p:sp>
        <p:nvSpPr>
          <p:cNvPr id="4" name="TextBox 3"/>
          <p:cNvSpPr txBox="1"/>
          <p:nvPr/>
        </p:nvSpPr>
        <p:spPr>
          <a:xfrm>
            <a:off x="-1534472" y="1786024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39552" y="4221088"/>
            <a:ext cx="6191157" cy="833718"/>
          </a:xfrm>
        </p:spPr>
        <p:txBody>
          <a:bodyPr>
            <a:noAutofit/>
          </a:bodyPr>
          <a:lstStyle/>
          <a:p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6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half" idx="2"/>
          </p:nvPr>
        </p:nvSpPr>
        <p:spPr>
          <a:xfrm>
            <a:off x="611560" y="5013176"/>
            <a:ext cx="8610600" cy="838200"/>
          </a:xfrm>
        </p:spPr>
        <p:txBody>
          <a:bodyPr>
            <a:normAutofit/>
          </a:bodyPr>
          <a:lstStyle/>
          <a:p>
            <a:r>
              <a:rPr lang="en-US" sz="4400" dirty="0"/>
              <a:t>Internal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0F81D-4FFF-37FE-F62C-EA88D86BD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5427F3B-F33B-C30C-22AD-24B3A7E9A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1520" y="3547409"/>
            <a:ext cx="5472608" cy="2401871"/>
          </a:xfrm>
        </p:spPr>
        <p:txBody>
          <a:bodyPr>
            <a:noAutofit/>
          </a:bodyPr>
          <a:lstStyle/>
          <a:p>
            <a:r>
              <a:rPr lang="en-US" sz="4400" dirty="0"/>
              <a:t>6.1 Semiconductor Main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5FE917-0E3F-7755-DC35-7E02D8CB142F}"/>
              </a:ext>
            </a:extLst>
          </p:cNvPr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62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Semiconductor Main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16833"/>
            <a:ext cx="9144000" cy="1080120"/>
          </a:xfrm>
        </p:spPr>
        <p:txBody>
          <a:bodyPr>
            <a:normAutofit/>
          </a:bodyPr>
          <a:lstStyle/>
          <a:p>
            <a:r>
              <a:rPr lang="en-US" sz="2400" dirty="0"/>
              <a:t>Semiconductor chips are used for main memory</a:t>
            </a:r>
          </a:p>
        </p:txBody>
      </p:sp>
      <p:pic>
        <p:nvPicPr>
          <p:cNvPr id="1026" name="Picture 2" descr="Types of Memory on the Arduino - Circuit Basic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552" y="2348880"/>
            <a:ext cx="8326797" cy="403329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Semiconductor Main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60848"/>
            <a:ext cx="8645526" cy="4144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All semiconductor memory cells share certain properties:</a:t>
            </a:r>
          </a:p>
          <a:p>
            <a:r>
              <a:rPr lang="en-US" sz="2400" dirty="0"/>
              <a:t>They exhibit two stable (or </a:t>
            </a:r>
            <a:r>
              <a:rPr lang="en-US" sz="2400" dirty="0" err="1"/>
              <a:t>semistable</a:t>
            </a:r>
            <a:r>
              <a:rPr lang="en-US" sz="2400" dirty="0"/>
              <a:t>) states, which can be used to represent binary 1 and 0.</a:t>
            </a:r>
          </a:p>
          <a:p>
            <a:r>
              <a:rPr lang="en-US" sz="2400" dirty="0"/>
              <a:t>They are capable of being written into (at least once), to set the state.</a:t>
            </a:r>
          </a:p>
          <a:p>
            <a:r>
              <a:rPr lang="en-US" sz="2400" dirty="0"/>
              <a:t>They are capable of being read to sense the 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1.pdf"/>
          <p:cNvPicPr>
            <a:picLocks noChangeAspect="1"/>
          </p:cNvPicPr>
          <p:nvPr/>
        </p:nvPicPr>
        <p:blipFill rotWithShape="1">
          <a:blip r:embed="rId3"/>
          <a:srcRect l="5224" t="27851" r="4568" b="40197"/>
          <a:stretch/>
        </p:blipFill>
        <p:spPr>
          <a:xfrm>
            <a:off x="0" y="-171400"/>
            <a:ext cx="7936525" cy="32680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9752" y="2852936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Fig 6.1 Memory Cell Operation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9144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3 Terminals:</a:t>
            </a:r>
          </a:p>
          <a:p>
            <a:pPr marL="465138" indent="-465138">
              <a:buFont typeface="Arial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The select terminal selects a memory cell for a read or write operation.</a:t>
            </a:r>
          </a:p>
          <a:p>
            <a:pPr marL="465138" indent="-465138">
              <a:buFont typeface="Arial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The control terminal indicates read or write. </a:t>
            </a:r>
          </a:p>
          <a:p>
            <a:pPr marL="465138" indent="-465138">
              <a:buFont typeface="Arial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For writing, the other terminal provides an electrical signal that sets the state of the cell to 1 or 0. For reading, that terminal is used for output of the cell’s state</a:t>
            </a:r>
          </a:p>
        </p:txBody>
      </p:sp>
    </p:spTree>
  </p:cSld>
  <p:clrMapOvr>
    <a:masterClrMapping/>
  </p:clrMapOvr>
  <p:transition spd="med">
    <p:wheel spokes="2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0"/>
            <a:ext cx="7556313" cy="1116106"/>
          </a:xfrm>
        </p:spPr>
        <p:txBody>
          <a:bodyPr/>
          <a:lstStyle/>
          <a:p>
            <a:r>
              <a:rPr lang="en-US" dirty="0"/>
              <a:t>DRAM and SRAM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6712"/>
            <a:ext cx="7956376" cy="1224136"/>
          </a:xfrm>
        </p:spPr>
        <p:txBody>
          <a:bodyPr>
            <a:normAutofit/>
          </a:bodyPr>
          <a:lstStyle/>
          <a:p>
            <a:r>
              <a:rPr lang="en-US" sz="2400" dirty="0"/>
              <a:t>All the memory types that we will explore in this chapter are </a:t>
            </a:r>
            <a:r>
              <a:rPr lang="en-US" sz="2400" b="1" dirty="0"/>
              <a:t>random access</a:t>
            </a:r>
          </a:p>
          <a:p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FCC688-87D8-4B2B-62F3-0DCED0390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00" y="2348880"/>
            <a:ext cx="8793784" cy="41430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 RAM (DRAM)</a:t>
            </a:r>
          </a:p>
        </p:txBody>
      </p:sp>
      <p:sp>
        <p:nvSpPr>
          <p:cNvPr id="21509" name="Rectangle 5"/>
          <p:cNvSpPr>
            <a:spLocks noGrp="1" noChangeArrowheads="1"/>
          </p:cNvSpPr>
          <p:nvPr>
            <p:ph idx="1"/>
          </p:nvPr>
        </p:nvSpPr>
        <p:spPr>
          <a:xfrm>
            <a:off x="125760" y="1698812"/>
            <a:ext cx="8892480" cy="4144963"/>
          </a:xfrm>
        </p:spPr>
        <p:txBody>
          <a:bodyPr>
            <a:noAutofit/>
          </a:bodyPr>
          <a:lstStyle/>
          <a:p>
            <a:r>
              <a:rPr lang="en-GB" dirty="0"/>
              <a:t>RAM technology is divided into two technologies:</a:t>
            </a:r>
          </a:p>
          <a:p>
            <a:pPr lvl="1"/>
            <a:r>
              <a:rPr lang="en-GB" sz="2000" dirty="0"/>
              <a:t>Dynamic RAM (DRAM)</a:t>
            </a:r>
          </a:p>
          <a:p>
            <a:pPr lvl="1"/>
            <a:r>
              <a:rPr lang="en-GB" sz="2000" dirty="0"/>
              <a:t>Static RAM (SRAM)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000" dirty="0"/>
              <a:t>DRAM</a:t>
            </a:r>
          </a:p>
          <a:p>
            <a:pPr marL="457200" lvl="2">
              <a:spcBef>
                <a:spcPts val="2000"/>
              </a:spcBef>
            </a:pPr>
            <a:r>
              <a:rPr lang="en-GB" sz="2000" dirty="0"/>
              <a:t>Made with cells that store data as charge on capacitors</a:t>
            </a:r>
          </a:p>
          <a:p>
            <a:pPr marL="457200" lvl="2">
              <a:spcBef>
                <a:spcPts val="2000"/>
              </a:spcBef>
            </a:pPr>
            <a:r>
              <a:rPr lang="en-GB" sz="2000" dirty="0"/>
              <a:t>Presence or absence of charge in a capacitor is interpreted as a binary 1 or 0</a:t>
            </a:r>
          </a:p>
          <a:p>
            <a:pPr marL="457200" lvl="2">
              <a:spcBef>
                <a:spcPts val="2000"/>
              </a:spcBef>
            </a:pPr>
            <a:r>
              <a:rPr lang="en-GB" sz="2000" dirty="0"/>
              <a:t>Requires periodic charge refreshing to maintain data storage</a:t>
            </a:r>
          </a:p>
          <a:p>
            <a:pPr marL="457200" lvl="2">
              <a:spcBef>
                <a:spcPts val="2000"/>
              </a:spcBef>
            </a:pPr>
            <a:r>
              <a:rPr lang="en-GB" sz="2000" dirty="0"/>
              <a:t>The term </a:t>
            </a:r>
            <a:r>
              <a:rPr lang="en-GB" sz="2000" b="1" i="1" dirty="0"/>
              <a:t>dynamic</a:t>
            </a:r>
            <a:r>
              <a:rPr lang="en-GB" sz="2000" i="1" dirty="0"/>
              <a:t> </a:t>
            </a:r>
            <a:r>
              <a:rPr lang="en-GB" sz="2000" dirty="0"/>
              <a:t>refers to tendency of the stored charge to leak away, even with power continuously applied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 RAM (SRAM)</a:t>
            </a:r>
          </a:p>
        </p:txBody>
      </p:sp>
      <p:sp>
        <p:nvSpPr>
          <p:cNvPr id="21509" name="Rectangle 5"/>
          <p:cNvSpPr>
            <a:spLocks noGrp="1" noChangeArrowheads="1"/>
          </p:cNvSpPr>
          <p:nvPr>
            <p:ph idx="1"/>
          </p:nvPr>
        </p:nvSpPr>
        <p:spPr>
          <a:xfrm>
            <a:off x="341784" y="1916832"/>
            <a:ext cx="8460432" cy="4144963"/>
          </a:xfrm>
        </p:spPr>
        <p:txBody>
          <a:bodyPr>
            <a:normAutofit/>
          </a:bodyPr>
          <a:lstStyle/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000" dirty="0"/>
              <a:t>SRAM</a:t>
            </a:r>
          </a:p>
          <a:p>
            <a:pPr marL="228600" lvl="1" indent="-182880">
              <a:spcBef>
                <a:spcPts val="2000"/>
              </a:spcBef>
              <a:buClr>
                <a:schemeClr val="bg2"/>
              </a:buClr>
            </a:pPr>
            <a:r>
              <a:rPr lang="en-GB" sz="2000" dirty="0"/>
              <a:t>Digital device that uses the same logic elements used in the processor</a:t>
            </a:r>
          </a:p>
          <a:p>
            <a:pPr marL="228600" lvl="1" indent="-182880">
              <a:spcBef>
                <a:spcPts val="2000"/>
              </a:spcBef>
              <a:buClr>
                <a:schemeClr val="bg2"/>
              </a:buClr>
            </a:pPr>
            <a:r>
              <a:rPr lang="en-GB" sz="2000" dirty="0"/>
              <a:t>Binary values are stored using traditional flip-flop logic gate configurations</a:t>
            </a:r>
          </a:p>
          <a:p>
            <a:pPr marL="228600" lvl="1" indent="-182880">
              <a:spcBef>
                <a:spcPts val="2000"/>
              </a:spcBef>
              <a:buClr>
                <a:schemeClr val="bg2"/>
              </a:buClr>
            </a:pPr>
            <a:r>
              <a:rPr lang="en-GB" sz="2000" dirty="0"/>
              <a:t>Will hold its data as long as power is supplied to 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2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82" t="17565" r="7475" b="22696"/>
          <a:stretch/>
        </p:blipFill>
        <p:spPr>
          <a:xfrm>
            <a:off x="0" y="522471"/>
            <a:ext cx="9144000" cy="51387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07704" y="5589240"/>
            <a:ext cx="5976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 6.2 Typical Memory Cell Structures</a:t>
            </a:r>
          </a:p>
        </p:txBody>
      </p:sp>
    </p:spTree>
  </p:cSld>
  <p:clrMapOvr>
    <a:masterClrMapping/>
  </p:clrMapOvr>
  <p:transition spd="med">
    <p:spli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5886357" cy="833718"/>
          </a:xfrm>
        </p:spPr>
        <p:txBody>
          <a:bodyPr>
            <a:normAutofit/>
          </a:bodyPr>
          <a:lstStyle/>
          <a:p>
            <a: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SRAM </a:t>
            </a:r>
            <a:r>
              <a:rPr lang="en-GB" sz="4000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versus</a:t>
            </a:r>
            <a:r>
              <a:rPr lang="en-GB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DRAM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1447800"/>
            <a:ext cx="6198840" cy="5105399"/>
          </a:xfrm>
        </p:spPr>
        <p:txBody>
          <a:bodyPr>
            <a:normAutofit lnSpcReduction="10000"/>
          </a:bodyPr>
          <a:lstStyle/>
          <a:p>
            <a:pPr marL="228600" indent="-228600">
              <a:spcBef>
                <a:spcPts val="2000"/>
              </a:spcBef>
              <a:buFont typeface="Wingdings" pitchFamily="2" charset="2"/>
              <a:buChar char="n"/>
            </a:pPr>
            <a:r>
              <a:rPr lang="en-GB" sz="2000" dirty="0"/>
              <a:t>Both volatile</a:t>
            </a:r>
          </a:p>
          <a:p>
            <a:pPr lvl="1" indent="-228600">
              <a:buFont typeface="Wingdings" pitchFamily="2" charset="2"/>
              <a:buChar char="n"/>
            </a:pPr>
            <a:r>
              <a:rPr lang="en-GB" sz="1800" dirty="0"/>
              <a:t>Power must be continuously supplied to the memory to preserve the bit values</a:t>
            </a:r>
          </a:p>
          <a:p>
            <a:pPr marL="228600" indent="-228600">
              <a:spcBef>
                <a:spcPts val="2000"/>
              </a:spcBef>
              <a:buFont typeface="Wingdings" pitchFamily="2" charset="2"/>
              <a:buChar char="n"/>
            </a:pPr>
            <a:r>
              <a:rPr lang="en-GB" sz="2000" dirty="0"/>
              <a:t>Dynamic cell </a:t>
            </a:r>
          </a:p>
          <a:p>
            <a:pPr lvl="1" indent="-228600">
              <a:buFont typeface="Wingdings" pitchFamily="2" charset="2"/>
              <a:buChar char="n"/>
            </a:pPr>
            <a:r>
              <a:rPr lang="en-GB" sz="1800" dirty="0"/>
              <a:t>Simpler to build, smaller</a:t>
            </a:r>
          </a:p>
          <a:p>
            <a:pPr lvl="1" indent="-228600">
              <a:buFont typeface="Wingdings" pitchFamily="2" charset="2"/>
              <a:buChar char="n"/>
            </a:pPr>
            <a:r>
              <a:rPr lang="en-GB" sz="1800" dirty="0"/>
              <a:t>More dense (smaller cells = more cells per unit area)</a:t>
            </a:r>
          </a:p>
          <a:p>
            <a:pPr lvl="1" indent="-228600">
              <a:buFont typeface="Wingdings" pitchFamily="2" charset="2"/>
              <a:buChar char="n"/>
            </a:pPr>
            <a:r>
              <a:rPr lang="en-GB" sz="1800" dirty="0"/>
              <a:t>Less expensive</a:t>
            </a:r>
          </a:p>
          <a:p>
            <a:pPr lvl="1" indent="-228600">
              <a:buFont typeface="Wingdings" pitchFamily="2" charset="2"/>
              <a:buChar char="n"/>
            </a:pPr>
            <a:r>
              <a:rPr lang="en-GB" sz="1800" dirty="0"/>
              <a:t>Requires the supporting refresh circuitry</a:t>
            </a:r>
          </a:p>
          <a:p>
            <a:pPr lvl="1" indent="-228600">
              <a:buFont typeface="Wingdings" pitchFamily="2" charset="2"/>
              <a:buChar char="n"/>
            </a:pPr>
            <a:r>
              <a:rPr lang="en-GB" sz="1800" dirty="0"/>
              <a:t>Tend to be favored for large memory requirements</a:t>
            </a:r>
          </a:p>
          <a:p>
            <a:pPr lvl="1" indent="-228600">
              <a:buFont typeface="Wingdings" pitchFamily="2" charset="2"/>
              <a:buChar char="n"/>
            </a:pPr>
            <a:r>
              <a:rPr lang="en-GB" sz="1800" dirty="0"/>
              <a:t>Used for main memory</a:t>
            </a:r>
          </a:p>
          <a:p>
            <a:pPr marL="228600" indent="-228600">
              <a:spcBef>
                <a:spcPts val="2000"/>
              </a:spcBef>
              <a:buFont typeface="Wingdings" pitchFamily="2" charset="2"/>
              <a:buChar char="n"/>
            </a:pPr>
            <a:r>
              <a:rPr lang="en-GB" sz="2000" dirty="0"/>
              <a:t>Static</a:t>
            </a:r>
          </a:p>
          <a:p>
            <a:pPr lvl="1" indent="-228600">
              <a:buFont typeface="Wingdings" pitchFamily="2" charset="2"/>
              <a:buChar char="n"/>
            </a:pPr>
            <a:r>
              <a:rPr lang="en-GB" sz="1800" dirty="0"/>
              <a:t>Faster</a:t>
            </a:r>
          </a:p>
          <a:p>
            <a:pPr lvl="1" indent="-228600">
              <a:buFont typeface="Wingdings" pitchFamily="2" charset="2"/>
              <a:buChar char="n"/>
            </a:pPr>
            <a:r>
              <a:rPr lang="en-GB" sz="1800" dirty="0"/>
              <a:t>Used for cache memory (both on and off chip)</a:t>
            </a:r>
          </a:p>
          <a:p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7086600" y="838200"/>
            <a:ext cx="157376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SRAM</a:t>
            </a:r>
            <a:endParaRPr lang="en-US" sz="40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086600" y="2971800"/>
            <a:ext cx="167545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DRAM</a:t>
            </a:r>
            <a:endParaRPr lang="en-US" sz="4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 useBgFill="1">
        <p:nvSpPr>
          <p:cNvPr id="10" name="TextBox 9"/>
          <p:cNvSpPr txBox="1"/>
          <p:nvPr/>
        </p:nvSpPr>
        <p:spPr>
          <a:xfrm>
            <a:off x="222250" y="4587875"/>
            <a:ext cx="387350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 Only Memory (ROM)</a:t>
            </a:r>
          </a:p>
        </p:txBody>
      </p:sp>
      <p:sp>
        <p:nvSpPr>
          <p:cNvPr id="68613" name="Rectangle 5"/>
          <p:cNvSpPr>
            <a:spLocks noGrp="1" noChangeArrowheads="1"/>
          </p:cNvSpPr>
          <p:nvPr>
            <p:ph idx="1"/>
          </p:nvPr>
        </p:nvSpPr>
        <p:spPr>
          <a:xfrm>
            <a:off x="179512" y="1628800"/>
            <a:ext cx="8856984" cy="4800600"/>
          </a:xfrm>
        </p:spPr>
        <p:txBody>
          <a:bodyPr>
            <a:normAutofit/>
          </a:bodyPr>
          <a:lstStyle/>
          <a:p>
            <a:r>
              <a:rPr lang="en-US" dirty="0"/>
              <a:t>Contains a </a:t>
            </a:r>
            <a:r>
              <a:rPr lang="en-US" b="1" dirty="0"/>
              <a:t>permanent pattern </a:t>
            </a:r>
            <a:r>
              <a:rPr lang="en-US" dirty="0"/>
              <a:t>of data/program that cannot be  changed</a:t>
            </a:r>
          </a:p>
          <a:p>
            <a:r>
              <a:rPr lang="en-US" dirty="0"/>
              <a:t>No power source is required to maintain the bit values in memory – </a:t>
            </a:r>
            <a:r>
              <a:rPr lang="en-US" b="1" dirty="0"/>
              <a:t>nonvolatile</a:t>
            </a:r>
          </a:p>
          <a:p>
            <a:r>
              <a:rPr lang="en-US" dirty="0"/>
              <a:t>Data or program is </a:t>
            </a:r>
            <a:r>
              <a:rPr lang="en-US" b="1" dirty="0"/>
              <a:t>permanently in main memory </a:t>
            </a:r>
            <a:r>
              <a:rPr lang="en-US" dirty="0"/>
              <a:t>and never needs to be loaded from a secondary storage device</a:t>
            </a:r>
          </a:p>
          <a:p>
            <a:r>
              <a:rPr lang="en-US" dirty="0"/>
              <a:t>Data/program is actually </a:t>
            </a:r>
            <a:r>
              <a:rPr lang="en-US" b="1" dirty="0"/>
              <a:t>wired into the chip </a:t>
            </a:r>
            <a:r>
              <a:rPr lang="en-US" dirty="0"/>
              <a:t>as part of the fabrication process</a:t>
            </a:r>
          </a:p>
          <a:p>
            <a:pPr lvl="1"/>
            <a:r>
              <a:rPr lang="en-US" dirty="0"/>
              <a:t>Disadvantages of this:</a:t>
            </a:r>
          </a:p>
          <a:p>
            <a:pPr lvl="2"/>
            <a:r>
              <a:rPr lang="en-US" b="1" dirty="0"/>
              <a:t>No room for error</a:t>
            </a:r>
            <a:r>
              <a:rPr lang="en-US" dirty="0"/>
              <a:t>, if one bit is wrong the whole batch of ROMs must be thrown out</a:t>
            </a:r>
          </a:p>
          <a:p>
            <a:pPr lvl="2"/>
            <a:r>
              <a:rPr lang="en-US" dirty="0"/>
              <a:t>Data </a:t>
            </a:r>
            <a:r>
              <a:rPr lang="en-US" b="1" dirty="0"/>
              <a:t>insertion</a:t>
            </a:r>
            <a:r>
              <a:rPr lang="en-US" dirty="0"/>
              <a:t> step includes a relatively </a:t>
            </a:r>
            <a:r>
              <a:rPr lang="en-US" b="1" dirty="0"/>
              <a:t>large fixed cost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Programmable ROM (PROM)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844824"/>
            <a:ext cx="8820472" cy="4144963"/>
          </a:xfrm>
        </p:spPr>
        <p:txBody>
          <a:bodyPr/>
          <a:lstStyle/>
          <a:p>
            <a:r>
              <a:rPr lang="en-US" dirty="0"/>
              <a:t>Less expensive alternative</a:t>
            </a:r>
          </a:p>
          <a:p>
            <a:r>
              <a:rPr lang="en-US" dirty="0"/>
              <a:t>Nonvolatile and may be written into only once</a:t>
            </a:r>
          </a:p>
          <a:p>
            <a:r>
              <a:rPr lang="en-US" dirty="0"/>
              <a:t>Writing process is performed electrically and may be performed by supplier or customer at a time later than the original chip fabrication</a:t>
            </a:r>
          </a:p>
          <a:p>
            <a:r>
              <a:rPr lang="en-US" dirty="0"/>
              <a:t>Special equipment is required for the writing process</a:t>
            </a:r>
          </a:p>
          <a:p>
            <a:r>
              <a:rPr lang="en-US" dirty="0"/>
              <a:t>Provides flexibility and convenience</a:t>
            </a:r>
          </a:p>
          <a:p>
            <a:r>
              <a:rPr lang="en-US" dirty="0"/>
              <a:t>Attractive for high volume production runs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7142" y="116632"/>
            <a:ext cx="9144000" cy="995362"/>
          </a:xfrm>
        </p:spPr>
        <p:txBody>
          <a:bodyPr/>
          <a:lstStyle/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Read-Mostly Memory</a:t>
            </a:r>
          </a:p>
        </p:txBody>
      </p:sp>
      <p:graphicFrame>
        <p:nvGraphicFramePr>
          <p:cNvPr id="30" name="Content Placeholder 29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729389584"/>
              </p:ext>
            </p:extLst>
          </p:nvPr>
        </p:nvGraphicFramePr>
        <p:xfrm>
          <a:off x="0" y="908720"/>
          <a:ext cx="9144000" cy="5949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380381"/>
            <a:ext cx="9144000" cy="4144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USB drives, also known as USB flash drives or thumb drives, are based on </a:t>
            </a:r>
            <a:r>
              <a:rPr lang="en-US" b="1" dirty="0"/>
              <a:t>flash memory </a:t>
            </a:r>
            <a:r>
              <a:rPr lang="en-US" dirty="0"/>
              <a:t>technology. </a:t>
            </a:r>
          </a:p>
          <a:p>
            <a:r>
              <a:rPr lang="en-US" dirty="0"/>
              <a:t>Flash memory is a type of </a:t>
            </a:r>
            <a:r>
              <a:rPr lang="en-US" b="1" dirty="0"/>
              <a:t>non-volatile</a:t>
            </a:r>
            <a:r>
              <a:rPr lang="en-US" dirty="0"/>
              <a:t> storage that retains data even when the power is disconnected. </a:t>
            </a:r>
          </a:p>
          <a:p>
            <a:r>
              <a:rPr lang="en-US" dirty="0"/>
              <a:t>USB drives use </a:t>
            </a:r>
            <a:r>
              <a:rPr lang="en-US" b="1" dirty="0"/>
              <a:t>NAND flash memory</a:t>
            </a:r>
            <a:r>
              <a:rPr lang="en-US" dirty="0"/>
              <a:t>, which is a specific type of flash memory technology, to store data. </a:t>
            </a:r>
          </a:p>
          <a:p>
            <a:r>
              <a:rPr lang="en-US" dirty="0"/>
              <a:t>This makes them a </a:t>
            </a:r>
            <a:r>
              <a:rPr lang="en-US" b="1" dirty="0"/>
              <a:t>convenient</a:t>
            </a:r>
            <a:r>
              <a:rPr lang="en-US" dirty="0"/>
              <a:t> and </a:t>
            </a:r>
            <a:r>
              <a:rPr lang="en-US" b="1" dirty="0"/>
              <a:t>portable</a:t>
            </a:r>
            <a:r>
              <a:rPr lang="en-US" dirty="0"/>
              <a:t> storage solution for transferring and carrying data. </a:t>
            </a:r>
          </a:p>
          <a:p>
            <a:r>
              <a:rPr lang="en-US" dirty="0"/>
              <a:t>Flash memory is also commonly used in other storage devices like </a:t>
            </a:r>
            <a:r>
              <a:rPr lang="en-US" b="1" dirty="0"/>
              <a:t>SSDs</a:t>
            </a:r>
            <a:r>
              <a:rPr lang="en-US" dirty="0"/>
              <a:t> (Solid State Drives), </a:t>
            </a:r>
            <a:r>
              <a:rPr lang="en-US" b="1" dirty="0"/>
              <a:t>memory cards</a:t>
            </a:r>
            <a:r>
              <a:rPr lang="en-US" dirty="0"/>
              <a:t>, and some types of </a:t>
            </a:r>
            <a:r>
              <a:rPr lang="en-US" b="1" dirty="0"/>
              <a:t>portable media players.</a:t>
            </a:r>
          </a:p>
        </p:txBody>
      </p:sp>
      <p:pic>
        <p:nvPicPr>
          <p:cNvPr id="103426" name="Picture 2" descr="High-security USB flash drive architecture. | Download Scientific Diagra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67744" y="336140"/>
            <a:ext cx="6876256" cy="18687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Chip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784" y="1484784"/>
            <a:ext cx="8460432" cy="4144963"/>
          </a:xfrm>
        </p:spPr>
        <p:txBody>
          <a:bodyPr>
            <a:normAutofit/>
          </a:bodyPr>
          <a:lstStyle/>
          <a:p>
            <a:r>
              <a:rPr lang="en-US" sz="2400" dirty="0"/>
              <a:t>Semiconductor memory comes in </a:t>
            </a:r>
            <a:r>
              <a:rPr lang="en-US" sz="2400" b="1" dirty="0"/>
              <a:t>packaged chips</a:t>
            </a:r>
          </a:p>
          <a:p>
            <a:r>
              <a:rPr lang="en-US" sz="2400" dirty="0"/>
              <a:t>Tradeoffs exist among </a:t>
            </a:r>
            <a:r>
              <a:rPr lang="en-US" sz="2400" b="1" dirty="0"/>
              <a:t>speed</a:t>
            </a:r>
            <a:r>
              <a:rPr lang="en-US" sz="2400" dirty="0"/>
              <a:t>, </a:t>
            </a:r>
            <a:r>
              <a:rPr lang="en-US" sz="2400" b="1" dirty="0"/>
              <a:t>density</a:t>
            </a:r>
            <a:r>
              <a:rPr lang="en-US" sz="2400" dirty="0"/>
              <a:t>, and </a:t>
            </a:r>
            <a:r>
              <a:rPr lang="en-US" sz="2400" b="1" dirty="0"/>
              <a:t>cost</a:t>
            </a:r>
          </a:p>
          <a:p>
            <a:r>
              <a:rPr lang="en-US" sz="2400" dirty="0"/>
              <a:t>For semiconductor memories, one key design issue is the </a:t>
            </a:r>
            <a:r>
              <a:rPr lang="en-US" sz="2400" b="1" dirty="0"/>
              <a:t>number of bits </a:t>
            </a:r>
            <a:r>
              <a:rPr lang="en-US" sz="2400" dirty="0"/>
              <a:t>that may be read/written at a time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3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62" b="27526"/>
          <a:stretch/>
        </p:blipFill>
        <p:spPr>
          <a:xfrm>
            <a:off x="90241" y="0"/>
            <a:ext cx="9053759" cy="6480720"/>
          </a:xfrm>
          <a:prstGeom prst="rect">
            <a:avLst/>
          </a:prstGeom>
        </p:spPr>
      </p:pic>
    </p:spTree>
  </p:cSld>
  <p:clrMapOvr>
    <a:masterClrMapping/>
  </p:clrMapOvr>
  <p:transition spd="med">
    <p:wheel spokes="2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3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2" t="19469" b="27526"/>
          <a:stretch/>
        </p:blipFill>
        <p:spPr>
          <a:xfrm>
            <a:off x="3307996" y="2420888"/>
            <a:ext cx="6160547" cy="443711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83568" y="0"/>
            <a:ext cx="7556313" cy="836712"/>
          </a:xfrm>
        </p:spPr>
        <p:txBody>
          <a:bodyPr/>
          <a:lstStyle/>
          <a:p>
            <a:r>
              <a:rPr lang="en-US" dirty="0"/>
              <a:t>Chip Logic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0" y="980728"/>
            <a:ext cx="8100392" cy="4144963"/>
          </a:xfrm>
        </p:spPr>
        <p:txBody>
          <a:bodyPr/>
          <a:lstStyle/>
          <a:p>
            <a:r>
              <a:rPr lang="en-US" dirty="0"/>
              <a:t>Addressing 2</a:t>
            </a:r>
            <a:r>
              <a:rPr lang="en-US" baseline="30000" dirty="0"/>
              <a:t>11</a:t>
            </a:r>
            <a:r>
              <a:rPr lang="en-US" dirty="0"/>
              <a:t> = 2048 to Save number of pins </a:t>
            </a:r>
          </a:p>
          <a:p>
            <a:r>
              <a:rPr lang="en-US" dirty="0"/>
              <a:t>Multiplexed: First 11 address signals are passed to define row RAS, and next 11 to define column CAS</a:t>
            </a:r>
          </a:p>
          <a:p>
            <a:r>
              <a:rPr lang="en-US" dirty="0"/>
              <a:t>WE is write enable to write, </a:t>
            </a:r>
          </a:p>
          <a:p>
            <a:r>
              <a:rPr lang="en-US" dirty="0"/>
              <a:t>OE  is output enable to read</a:t>
            </a:r>
          </a:p>
          <a:p>
            <a:r>
              <a:rPr lang="en-US" dirty="0"/>
              <a:t>Increase 1 bit for addressing.</a:t>
            </a:r>
          </a:p>
          <a:p>
            <a:r>
              <a:rPr lang="en-US" dirty="0"/>
              <a:t>Doubles the rows and cols</a:t>
            </a:r>
          </a:p>
          <a:p>
            <a:r>
              <a:rPr lang="en-US" dirty="0"/>
              <a:t>So effective increase is 4 times</a:t>
            </a:r>
          </a:p>
        </p:txBody>
      </p:sp>
    </p:spTree>
  </p:cSld>
  <p:clrMapOvr>
    <a:masterClrMapping/>
  </p:clrMapOvr>
  <p:transition spd="med">
    <p:wheel spokes="2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4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24" b="32559"/>
          <a:stretch/>
        </p:blipFill>
        <p:spPr>
          <a:xfrm>
            <a:off x="287016" y="620688"/>
            <a:ext cx="8856984" cy="540060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wheel spokes="2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81200"/>
            <a:ext cx="9144000" cy="4144963"/>
          </a:xfrm>
        </p:spPr>
        <p:txBody>
          <a:bodyPr>
            <a:normAutofit/>
          </a:bodyPr>
          <a:lstStyle/>
          <a:p>
            <a:r>
              <a:rPr lang="en-US" dirty="0"/>
              <a:t>If a RAM chip contains only 1 bit per word, then clearly we will need at least a number of chips equal to the number of bits per word. </a:t>
            </a:r>
          </a:p>
          <a:p>
            <a:r>
              <a:rPr lang="en-US" dirty="0"/>
              <a:t>As an example, Figure 6.5 shows how a memory module consisting of 256K 8-bit words could be organized. </a:t>
            </a:r>
          </a:p>
          <a:p>
            <a:r>
              <a:rPr lang="en-US" dirty="0"/>
              <a:t>For 256K words, an 18-bit address is needed and is supplied to the module from some external source (e.g., the address lines of a bus to which the module is attached).</a:t>
            </a:r>
          </a:p>
          <a:p>
            <a:r>
              <a:rPr lang="en-US" dirty="0"/>
              <a:t>The address is presented to 8 256K * 1-bit chips, each of which provides the input/output of 1 bit.</a:t>
            </a:r>
            <a:endParaRPr lang="en-GB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Inc., Hoboken, NJ. All rights reserved.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TextBox 9"/>
          <p:cNvSpPr txBox="1"/>
          <p:nvPr/>
        </p:nvSpPr>
        <p:spPr>
          <a:xfrm>
            <a:off x="214424" y="4684719"/>
            <a:ext cx="471375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85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3568" y="0"/>
            <a:ext cx="7272808" cy="6570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heel spokes="2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TextBox 9"/>
          <p:cNvSpPr txBox="1"/>
          <p:nvPr/>
        </p:nvSpPr>
        <p:spPr>
          <a:xfrm>
            <a:off x="214424" y="4684719"/>
            <a:ext cx="471375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9512" y="6492875"/>
            <a:ext cx="6122894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  <p:pic>
        <p:nvPicPr>
          <p:cNvPr id="53249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" y="620688"/>
            <a:ext cx="9139381" cy="5904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heel spokes="2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Interleaved Memory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988840"/>
            <a:ext cx="9144000" cy="4824536"/>
          </a:xfrm>
        </p:spPr>
        <p:txBody>
          <a:bodyPr>
            <a:noAutofit/>
          </a:bodyPr>
          <a:lstStyle/>
          <a:p>
            <a:r>
              <a:rPr lang="en-US" dirty="0"/>
              <a:t>Main memory is composed of a </a:t>
            </a:r>
            <a:r>
              <a:rPr lang="en-US" b="1" dirty="0"/>
              <a:t>collection</a:t>
            </a:r>
            <a:r>
              <a:rPr lang="en-US" dirty="0"/>
              <a:t> of DRAM memory chips. </a:t>
            </a:r>
          </a:p>
          <a:p>
            <a:r>
              <a:rPr lang="en-US" dirty="0"/>
              <a:t>A number of chips can be grouped together to form a </a:t>
            </a:r>
            <a:r>
              <a:rPr lang="en-US" b="1" dirty="0"/>
              <a:t>memory bank</a:t>
            </a:r>
            <a:r>
              <a:rPr lang="en-US" dirty="0"/>
              <a:t>. It is possible to organize the memory banks in a way known as </a:t>
            </a:r>
            <a:r>
              <a:rPr lang="en-US" b="1" dirty="0"/>
              <a:t>interleaved memory.</a:t>
            </a:r>
          </a:p>
          <a:p>
            <a:r>
              <a:rPr lang="en-US" dirty="0"/>
              <a:t>Each bank is </a:t>
            </a:r>
            <a:r>
              <a:rPr lang="en-US" b="1" dirty="0"/>
              <a:t>independently</a:t>
            </a:r>
            <a:r>
              <a:rPr lang="en-US" dirty="0"/>
              <a:t> able to service a memory </a:t>
            </a:r>
            <a:r>
              <a:rPr lang="en-US" b="1" dirty="0"/>
              <a:t>read</a:t>
            </a:r>
            <a:r>
              <a:rPr lang="en-US" dirty="0"/>
              <a:t> or </a:t>
            </a:r>
            <a:r>
              <a:rPr lang="en-US" b="1" dirty="0"/>
              <a:t>write</a:t>
            </a:r>
            <a:r>
              <a:rPr lang="en-US" dirty="0"/>
              <a:t> request, so that a system with </a:t>
            </a:r>
            <a:r>
              <a:rPr lang="en-US" b="1" dirty="0"/>
              <a:t>K banks </a:t>
            </a:r>
            <a:r>
              <a:rPr lang="en-US" dirty="0"/>
              <a:t>can service K requests simultaneously, </a:t>
            </a:r>
            <a:r>
              <a:rPr lang="en-US" b="1" dirty="0"/>
              <a:t>increasing memory read or write rates by a factor of K. </a:t>
            </a:r>
          </a:p>
          <a:p>
            <a:r>
              <a:rPr lang="en-US" dirty="0"/>
              <a:t>If consecutive words of memory are stored in different banks, then the </a:t>
            </a:r>
            <a:r>
              <a:rPr lang="en-US" b="1" dirty="0"/>
              <a:t>transfer of a block </a:t>
            </a:r>
            <a:r>
              <a:rPr lang="en-US" dirty="0"/>
              <a:t>of memory is </a:t>
            </a:r>
            <a:r>
              <a:rPr lang="en-US" b="1" dirty="0"/>
              <a:t>speeded</a:t>
            </a:r>
            <a:r>
              <a:rPr lang="en-US" dirty="0"/>
              <a:t> up.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46798-61D1-F105-7455-90187608A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F5F6769-1778-BDEB-40F8-D38D7F99B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1520" y="3547409"/>
            <a:ext cx="5472608" cy="2401871"/>
          </a:xfrm>
        </p:spPr>
        <p:txBody>
          <a:bodyPr>
            <a:noAutofit/>
          </a:bodyPr>
          <a:lstStyle/>
          <a:p>
            <a:r>
              <a:rPr lang="en-US" sz="4400" dirty="0"/>
              <a:t>Today’s Class</a:t>
            </a:r>
          </a:p>
          <a:p>
            <a:r>
              <a:rPr lang="en-US" sz="4400" dirty="0"/>
              <a:t>6.1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9D92F9-5712-1EBD-E99B-EB21BF3EADE1}"/>
              </a:ext>
            </a:extLst>
          </p:cNvPr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01236"/>
      </p:ext>
    </p:extLst>
  </p:cSld>
  <p:clrMapOvr>
    <a:masterClrMapping/>
  </p:clrMapOvr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5026</TotalTime>
  <Words>5252</Words>
  <Application>Microsoft Office PowerPoint</Application>
  <PresentationFormat>On-screen Show (4:3)</PresentationFormat>
  <Paragraphs>453</Paragraphs>
  <Slides>24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Rockwell</vt:lpstr>
      <vt:lpstr>Times New Roman</vt:lpstr>
      <vt:lpstr>Wingdings</vt:lpstr>
      <vt:lpstr>Advantage</vt:lpstr>
      <vt:lpstr>William Stallings  Computer Organization  and Architecture 10th Edition</vt:lpstr>
      <vt:lpstr>Chapter 6</vt:lpstr>
      <vt:lpstr>PowerPoint Presentation</vt:lpstr>
      <vt:lpstr>Semiconductor Main Memory</vt:lpstr>
      <vt:lpstr>Semiconductor Main Memory</vt:lpstr>
      <vt:lpstr>PowerPoint Presentation</vt:lpstr>
      <vt:lpstr>DRAM and SRAM</vt:lpstr>
      <vt:lpstr>Dynamic RAM (DRAM)</vt:lpstr>
      <vt:lpstr>Static RAM (SRAM)</vt:lpstr>
      <vt:lpstr>PowerPoint Presentation</vt:lpstr>
      <vt:lpstr>SRAM versus DRAM</vt:lpstr>
      <vt:lpstr>Read Only Memory (ROM)</vt:lpstr>
      <vt:lpstr>Programmable ROM (PROM)</vt:lpstr>
      <vt:lpstr>Read-Mostly Memory</vt:lpstr>
      <vt:lpstr>USB</vt:lpstr>
      <vt:lpstr>Chip Logic</vt:lpstr>
      <vt:lpstr>PowerPoint Presentation</vt:lpstr>
      <vt:lpstr>Chip Logic</vt:lpstr>
      <vt:lpstr>PowerPoint Presentation</vt:lpstr>
      <vt:lpstr>Module Organization</vt:lpstr>
      <vt:lpstr>PowerPoint Presentation</vt:lpstr>
      <vt:lpstr>PowerPoint Presentation</vt:lpstr>
      <vt:lpstr>Interleaved Memory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 Internal Memory</dc:title>
  <dc:creator>Adrian J Pullin</dc:creator>
  <cp:lastModifiedBy>Haider Zaidi</cp:lastModifiedBy>
  <cp:revision>230</cp:revision>
  <dcterms:created xsi:type="dcterms:W3CDTF">2015-02-15T03:24:50Z</dcterms:created>
  <dcterms:modified xsi:type="dcterms:W3CDTF">2025-10-10T23:32:16Z</dcterms:modified>
</cp:coreProperties>
</file>